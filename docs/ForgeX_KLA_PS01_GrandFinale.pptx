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dPSNR</c:v>
                </c:pt>
              </c:strCache>
            </c:strRef>
          </c:tx>
          <c:spPr>
            <a:solidFill>
              <a:srgbClr val="C2703B"/>
            </a:solidFill>
            <a:effectLst/>
          </c:spPr>
          <c:invertIfNegative val="0"/>
          <c:dLbls>
            <c:numFmt formatCode="+0.00;−0.00" sourceLinked="0"/>
            <c:txPr>
              <a:bodyPr/>
              <a:lstStyle/>
              <a:p>
                <a:pPr>
                  <a:defRPr b="0" i="0" strike="noStrike" sz="800" u="none">
                    <a:solidFill>
                      <a:srgbClr val="23282E"/>
                    </a:solidFill>
                    <a:latin typeface="Calibri"/>
                  </a:defRPr>
                </a:pPr>
              </a:p>
            </c:txPr>
            <c:showLegendKey val="0"/>
            <c:showVal val="1"/>
            <c:showCatName val="0"/>
            <c:showSerName val="0"/>
            <c:showPercent val="0"/>
            <c:showBubbleSize val="0"/>
            <c:showLeaderLines val="0"/>
          </c:dLbls>
          <c:dPt>
            <c:idx val="0"/>
            <c:invertIfNegative val="0"/>
            <c:bubble3D val="0"/>
            <c:spPr>
              <a:solidFill>
                <a:srgbClr val="C2703B"/>
              </a:solidFill>
              <a:effectLst/>
            </c:spPr>
          </c:dPt>
          <c:dPt>
            <c:idx val="1"/>
            <c:invertIfNegative val="0"/>
            <c:bubble3D val="0"/>
            <c:spPr>
              <a:solidFill>
                <a:srgbClr val="C2703B"/>
              </a:solidFill>
              <a:effectLst/>
            </c:spPr>
          </c:dPt>
          <c:dPt>
            <c:idx val="2"/>
            <c:invertIfNegative val="0"/>
            <c:bubble3D val="0"/>
            <c:spPr>
              <a:solidFill>
                <a:srgbClr val="C2703B"/>
              </a:solidFill>
              <a:effectLst/>
            </c:spPr>
          </c:dPt>
          <c:dPt>
            <c:idx val="3"/>
            <c:invertIfNegative val="0"/>
            <c:bubble3D val="0"/>
            <c:spPr>
              <a:solidFill>
                <a:srgbClr val="C2703B"/>
              </a:solidFill>
              <a:effectLst/>
            </c:spPr>
          </c:dPt>
          <c:dPt>
            <c:idx val="4"/>
            <c:invertIfNegative val="0"/>
            <c:bubble3D val="0"/>
            <c:spPr>
              <a:solidFill>
                <a:srgbClr val="C2703B"/>
              </a:solidFill>
              <a:effectLst/>
            </c:spPr>
          </c:dPt>
          <c:dPt>
            <c:idx val="5"/>
            <c:invertIfNegative val="0"/>
            <c:bubble3D val="0"/>
            <c:spPr>
              <a:solidFill>
                <a:srgbClr val="C2703B"/>
              </a:solidFill>
              <a:effectLst/>
            </c:spPr>
          </c:dPt>
          <c:dPt>
            <c:idx val="6"/>
            <c:invertIfNegative val="0"/>
            <c:bubble3D val="0"/>
            <c:spPr>
              <a:solidFill>
                <a:srgbClr val="C2703B"/>
              </a:solidFill>
              <a:effectLst/>
            </c:spPr>
          </c:dPt>
          <c:dPt>
            <c:idx val="7"/>
            <c:invertIfNegative val="0"/>
            <c:bubble3D val="0"/>
            <c:spPr>
              <a:solidFill>
                <a:srgbClr val="C2703B"/>
              </a:solidFill>
              <a:effectLst/>
            </c:spPr>
          </c:dPt>
          <c:dPt>
            <c:idx val="8"/>
            <c:invertIfNegative val="0"/>
            <c:bubble3D val="0"/>
            <c:spPr>
              <a:solidFill>
                <a:srgbClr val="7C8895"/>
              </a:solidFill>
              <a:effectLst/>
            </c:spPr>
          </c:dPt>
          <c:dPt>
            <c:idx val="9"/>
            <c:invertIfNegative val="0"/>
            <c:bubble3D val="0"/>
            <c:spPr>
              <a:solidFill>
                <a:srgbClr val="C2703B"/>
              </a:solidFill>
              <a:effectLst/>
            </c:spPr>
          </c:dPt>
          <c:dPt>
            <c:idx val="10"/>
            <c:invertIfNegative val="0"/>
            <c:bubble3D val="0"/>
            <c:spPr>
              <a:solidFill>
                <a:srgbClr val="C2703B"/>
              </a:solidFill>
              <a:effectLst/>
            </c:spPr>
          </c:dPt>
          <c:dPt>
            <c:idx val="11"/>
            <c:invertIfNegative val="0"/>
            <c:bubble3D val="0"/>
            <c:spPr>
              <a:solidFill>
                <a:srgbClr val="C2703B"/>
              </a:solidFill>
              <a:effectLst/>
            </c:spPr>
          </c:dPt>
          <c:dPt>
            <c:idx val="12"/>
            <c:invertIfNegative val="0"/>
            <c:bubble3D val="0"/>
            <c:spPr>
              <a:solidFill>
                <a:srgbClr val="C2703B"/>
              </a:solidFill>
              <a:effectLst/>
            </c:spPr>
          </c:dPt>
          <c:dPt>
            <c:idx val="13"/>
            <c:invertIfNegative val="0"/>
            <c:bubble3D val="0"/>
            <c:spPr>
              <a:solidFill>
                <a:srgbClr val="C2703B"/>
              </a:solidFill>
              <a:effectLst/>
            </c:spPr>
          </c:dPt>
          <c:cat>
            <c:multiLvlStrRef>
              <c:f>Sheet1!$A$2:$A$15</c:f>
              <c:multiLvlStrCache>
                <c:ptCount val="14"/>
                <c:lvl>
                  <c:pt idx="0">
                    <c:v>d3</c:v>
                  </c:pt>
                  <c:pt idx="1">
                    <c:v>d4</c:v>
                  </c:pt>
                  <c:pt idx="2">
                    <c:v>d5</c:v>
                  </c:pt>
                  <c:pt idx="3">
                    <c:v>d6</c:v>
                  </c:pt>
                  <c:pt idx="4">
                    <c:v>d7</c:v>
                  </c:pt>
                  <c:pt idx="5">
                    <c:v>d8</c:v>
                  </c:pt>
                  <c:pt idx="6">
                    <c:v>d9</c:v>
                  </c:pt>
                  <c:pt idx="7">
                    <c:v>d10</c:v>
                  </c:pt>
                  <c:pt idx="8">
                    <c:v>d11</c:v>
                  </c:pt>
                  <c:pt idx="9">
                    <c:v>d12</c:v>
                  </c:pt>
                  <c:pt idx="10">
                    <c:v>d13</c:v>
                  </c:pt>
                  <c:pt idx="11">
                    <c:v>d14</c:v>
                  </c:pt>
                  <c:pt idx="12">
                    <c:v>d15</c:v>
                  </c:pt>
                  <c:pt idx="13">
                    <c:v>d16</c:v>
                  </c:pt>
                </c:lvl>
              </c:multiLvlStrCache>
            </c:multiLvlStrRef>
          </c:cat>
          <c:val>
            <c:numRef>
              <c:f>Sheet1!$B$2:$B$15</c:f>
              <c:numCache>
                <c:formatCode>General</c:formatCode>
                <c:ptCount val="14"/>
                <c:pt idx="0">
                  <c:v>0.2642</c:v>
                </c:pt>
                <c:pt idx="1">
                  <c:v>0.2764</c:v>
                </c:pt>
                <c:pt idx="2">
                  <c:v>0.3144</c:v>
                </c:pt>
                <c:pt idx="3">
                  <c:v>0.2505</c:v>
                </c:pt>
                <c:pt idx="4">
                  <c:v>0.1907</c:v>
                </c:pt>
                <c:pt idx="5">
                  <c:v>0.2013</c:v>
                </c:pt>
                <c:pt idx="6">
                  <c:v>0.1229</c:v>
                </c:pt>
                <c:pt idx="7">
                  <c:v>0.0988</c:v>
                </c:pt>
                <c:pt idx="8">
                  <c:v>-0.0056</c:v>
                </c:pt>
                <c:pt idx="9">
                  <c:v>0.1138</c:v>
                </c:pt>
                <c:pt idx="10">
                  <c:v>0.1739</c:v>
                </c:pt>
                <c:pt idx="11">
                  <c:v>0.3183</c:v>
                </c:pt>
                <c:pt idx="12">
                  <c:v>0.304</c:v>
                </c:pt>
                <c:pt idx="13">
                  <c:v>0.1977</c:v>
                </c:pt>
              </c:numCache>
            </c:numRef>
          </c:val>
        </c:ser>
        <c:dLbls>
          <c:numFmt formatCode="+0.00;−0.00" sourceLinked="0"/>
          <c:txPr>
            <a:bodyPr/>
            <a:lstStyle/>
            <a:p>
              <a:pPr>
                <a:defRPr b="0" i="0" strike="noStrike" sz="800" u="none">
                  <a:solidFill>
                    <a:srgbClr val="23282E"/>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C8895"/>
                </a:solidFill>
                <a:latin typeface="Calibri"/>
              </a:defRPr>
            </a:pPr>
            <a:endParaRPr lang="en-US"/>
          </a:p>
        </c:txPr>
        <c:crossAx val="2094734552"/>
        <c:crosses val="autoZero"/>
        <c:auto val="1"/>
        <c:lblAlgn val="ctr"/>
        <c:noMultiLvlLbl val="1"/>
      </c:catAx>
      <c:valAx>
        <c:axId val="2094734552"/>
        <c:scaling>
          <c:orientation val="minMax"/>
          <c:max val="0.4"/>
          <c:min val="-0.1"/>
        </c:scaling>
        <c:delete val="0"/>
        <c:axPos val="l"/>
        <c:majorGridlines>
          <c:spPr>
            <a:ln w="6350" cap="flat">
              <a:solidFill>
                <a:srgbClr val="DD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895"/>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PSNR</c:v>
                </c:pt>
              </c:strCache>
            </c:strRef>
          </c:tx>
          <c:spPr>
            <a:solidFill>
              <a:srgbClr val="C2703B"/>
            </a:solidFill>
            <a:ln w="31750" cap="flat">
              <a:solidFill>
                <a:srgbClr val="C2703B"/>
              </a:solidFill>
              <a:prstDash val="solid"/>
              <a:round/>
            </a:ln>
            <a:effectLst/>
          </c:spPr>
          <c:invertIfNegative val="0"/>
          <c:dLbls>
            <c:numFmt formatCode="#,##0" sourceLinked="0"/>
            <c:txPr>
              <a:bodyPr/>
              <a:lstStyle/>
              <a:p>
                <a:pPr>
                  <a:defRPr b="0" i="0" strike="noStrike" sz="800" u="none">
                    <a:solidFill>
                      <a:srgbClr val="23282E"/>
                    </a:solidFill>
                    <a:latin typeface="Calibri"/>
                  </a:defRPr>
                </a:pPr>
              </a:p>
            </c:txPr>
            <c:showLegendKey val="0"/>
            <c:showVal val="0"/>
            <c:showCatName val="0"/>
            <c:showSerName val="0"/>
            <c:showPercent val="0"/>
            <c:showBubbleSize val="0"/>
            <c:showLeaderLines val="0"/>
          </c:dLbls>
          <c:marker>
            <c:symbol val="circle"/>
            <c:size val="6"/>
            <c:spPr>
              <a:solidFill>
                <a:srgbClr val="C2703B"/>
              </a:solidFill>
              <a:ln w="9525" cap="flat">
                <a:solidFill>
                  <a:srgbClr val="C2703B"/>
                </a:solidFill>
                <a:prstDash val="solid"/>
                <a:round/>
              </a:ln>
              <a:effectLst/>
            </c:spPr>
          </c:marker>
          <c:cat>
            <c:multiLvlStrRef>
              <c:f>Sheet1!$A$2:$A$15</c:f>
              <c:multiLvlStrCache>
                <c:ptCount val="14"/>
                <c:lvl>
                  <c:pt idx="0">
                    <c:v>d3</c:v>
                  </c:pt>
                  <c:pt idx="1">
                    <c:v>d4</c:v>
                  </c:pt>
                  <c:pt idx="2">
                    <c:v>d5</c:v>
                  </c:pt>
                  <c:pt idx="3">
                    <c:v>d6</c:v>
                  </c:pt>
                  <c:pt idx="4">
                    <c:v>d7</c:v>
                  </c:pt>
                  <c:pt idx="5">
                    <c:v>d8</c:v>
                  </c:pt>
                  <c:pt idx="6">
                    <c:v>d9</c:v>
                  </c:pt>
                  <c:pt idx="7">
                    <c:v>d10</c:v>
                  </c:pt>
                  <c:pt idx="8">
                    <c:v>d11</c:v>
                  </c:pt>
                  <c:pt idx="9">
                    <c:v>d12</c:v>
                  </c:pt>
                  <c:pt idx="10">
                    <c:v>d13</c:v>
                  </c:pt>
                  <c:pt idx="11">
                    <c:v>d14</c:v>
                  </c:pt>
                  <c:pt idx="12">
                    <c:v>d15</c:v>
                  </c:pt>
                  <c:pt idx="13">
                    <c:v>d16</c:v>
                  </c:pt>
                </c:lvl>
              </c:multiLvlStrCache>
            </c:multiLvlStrRef>
          </c:cat>
          <c:val>
            <c:numRef>
              <c:f>Sheet1!$B$2:$B$15</c:f>
              <c:numCache>
                <c:formatCode>General</c:formatCode>
                <c:ptCount val="14"/>
                <c:pt idx="0">
                  <c:v>22.7333</c:v>
                </c:pt>
                <c:pt idx="1">
                  <c:v>22.7849</c:v>
                </c:pt>
                <c:pt idx="2">
                  <c:v>22.8953</c:v>
                </c:pt>
                <c:pt idx="3">
                  <c:v>22.9746</c:v>
                </c:pt>
                <c:pt idx="4">
                  <c:v>23.0457</c:v>
                </c:pt>
                <c:pt idx="5">
                  <c:v>23.168</c:v>
                </c:pt>
                <c:pt idx="6">
                  <c:v>23.2131</c:v>
                </c:pt>
                <c:pt idx="7">
                  <c:v>23.287</c:v>
                </c:pt>
                <c:pt idx="8">
                  <c:v>23.3111</c:v>
                </c:pt>
                <c:pt idx="9">
                  <c:v>23.467</c:v>
                </c:pt>
                <c:pt idx="10">
                  <c:v>23.5803</c:v>
                </c:pt>
                <c:pt idx="11">
                  <c:v>23.7114</c:v>
                </c:pt>
                <c:pt idx="12">
                  <c:v>23.8269</c:v>
                </c:pt>
                <c:pt idx="13">
                  <c:v>23.8296</c:v>
                </c:pt>
              </c:numCache>
            </c:numRef>
          </c:val>
          <c:smooth val="0"/>
        </c:ser>
        <c:dLbls>
          <c:numFmt formatCode="#,##0" sourceLinked="0"/>
          <c:txPr>
            <a:bodyPr/>
            <a:lstStyle/>
            <a:p>
              <a:pPr>
                <a:defRPr b="0" i="0" strike="noStrike" sz="800" u="none">
                  <a:solidFill>
                    <a:srgbClr val="23282E"/>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C8895"/>
                </a:solidFill>
                <a:latin typeface="Calibri"/>
              </a:defRPr>
            </a:pPr>
            <a:endParaRPr lang="en-US"/>
          </a:p>
        </c:txPr>
        <c:crossAx val="2094734552"/>
        <c:crosses val="autoZero"/>
        <c:auto val="1"/>
        <c:lblAlgn val="ctr"/>
        <c:noMultiLvlLbl val="1"/>
      </c:catAx>
      <c:valAx>
        <c:axId val="2094734552"/>
        <c:scaling>
          <c:orientation val="minMax"/>
          <c:max val="24"/>
          <c:min val="22.5"/>
        </c:scaling>
        <c:delete val="0"/>
        <c:axPos val="l"/>
        <c:majorGridlines>
          <c:spPr>
            <a:ln w="6350" cap="flat">
              <a:solidFill>
                <a:srgbClr val="DD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895"/>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ms/img</c:v>
                </c:pt>
              </c:strCache>
            </c:strRef>
          </c:tx>
          <c:spPr>
            <a:solidFill>
              <a:srgbClr val="4A5560"/>
            </a:solidFill>
            <a:effectLst/>
          </c:spPr>
          <c:invertIfNegative val="0"/>
          <c:dLbls>
            <c:numFmt formatCode="#,##0" sourceLinked="0"/>
            <c:txPr>
              <a:bodyPr/>
              <a:lstStyle/>
              <a:p>
                <a:pPr>
                  <a:defRPr b="0" i="0" strike="noStrike" sz="800" u="none">
                    <a:solidFill>
                      <a:srgbClr val="23282E"/>
                    </a:solidFill>
                    <a:latin typeface="Calibri"/>
                  </a:defRPr>
                </a:pPr>
              </a:p>
            </c:txPr>
            <c:showLegendKey val="0"/>
            <c:showVal val="0"/>
            <c:showCatName val="0"/>
            <c:showSerName val="0"/>
            <c:showPercent val="0"/>
            <c:showBubbleSize val="0"/>
            <c:showLeaderLines val="0"/>
          </c:dLbls>
          <c:cat>
            <c:multiLvlStrRef>
              <c:f>Sheet1!$A$2:$A$15</c:f>
              <c:multiLvlStrCache>
                <c:ptCount val="14"/>
                <c:lvl>
                  <c:pt idx="0">
                    <c:v>d3</c:v>
                  </c:pt>
                  <c:pt idx="1">
                    <c:v>d4</c:v>
                  </c:pt>
                  <c:pt idx="2">
                    <c:v>d5</c:v>
                  </c:pt>
                  <c:pt idx="3">
                    <c:v>d6</c:v>
                  </c:pt>
                  <c:pt idx="4">
                    <c:v>d7</c:v>
                  </c:pt>
                  <c:pt idx="5">
                    <c:v>d8</c:v>
                  </c:pt>
                  <c:pt idx="6">
                    <c:v>d9</c:v>
                  </c:pt>
                  <c:pt idx="7">
                    <c:v>d10</c:v>
                  </c:pt>
                  <c:pt idx="8">
                    <c:v>d11</c:v>
                  </c:pt>
                  <c:pt idx="9">
                    <c:v>d12</c:v>
                  </c:pt>
                  <c:pt idx="10">
                    <c:v>d13</c:v>
                  </c:pt>
                  <c:pt idx="11">
                    <c:v>d14</c:v>
                  </c:pt>
                  <c:pt idx="12">
                    <c:v>d15</c:v>
                  </c:pt>
                  <c:pt idx="13">
                    <c:v>d16</c:v>
                  </c:pt>
                </c:lvl>
              </c:multiLvlStrCache>
            </c:multiLvlStrRef>
          </c:cat>
          <c:val>
            <c:numRef>
              <c:f>Sheet1!$B$2:$B$15</c:f>
              <c:numCache>
                <c:formatCode>General</c:formatCode>
                <c:ptCount val="14"/>
                <c:pt idx="0">
                  <c:v>0.404</c:v>
                </c:pt>
                <c:pt idx="1">
                  <c:v>0.488</c:v>
                </c:pt>
                <c:pt idx="2">
                  <c:v>0.57</c:v>
                </c:pt>
                <c:pt idx="3">
                  <c:v>0.649</c:v>
                </c:pt>
                <c:pt idx="4">
                  <c:v>0.731</c:v>
                </c:pt>
                <c:pt idx="5">
                  <c:v>0.811</c:v>
                </c:pt>
                <c:pt idx="6">
                  <c:v>0.895</c:v>
                </c:pt>
                <c:pt idx="7">
                  <c:v>0.977</c:v>
                </c:pt>
                <c:pt idx="8">
                  <c:v>1.06</c:v>
                </c:pt>
                <c:pt idx="9">
                  <c:v>1.142</c:v>
                </c:pt>
                <c:pt idx="10">
                  <c:v>1.225</c:v>
                </c:pt>
                <c:pt idx="11">
                  <c:v>1.306</c:v>
                </c:pt>
                <c:pt idx="12">
                  <c:v>1.389</c:v>
                </c:pt>
                <c:pt idx="13">
                  <c:v>1.47</c:v>
                </c:pt>
              </c:numCache>
            </c:numRef>
          </c:val>
        </c:ser>
        <c:dLbls>
          <c:numFmt formatCode="#,##0" sourceLinked="0"/>
          <c:txPr>
            <a:bodyPr/>
            <a:lstStyle/>
            <a:p>
              <a:pPr>
                <a:defRPr b="0" i="0" strike="noStrike" sz="800" u="none">
                  <a:solidFill>
                    <a:srgbClr val="23282E"/>
                  </a:solidFill>
                  <a:latin typeface="Calibri"/>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C8895"/>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895"/>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img/s</c:v>
                </c:pt>
              </c:strCache>
            </c:strRef>
          </c:tx>
          <c:spPr>
            <a:solidFill>
              <a:srgbClr val="4A5560"/>
            </a:solidFill>
            <a:effectLst/>
          </c:spPr>
          <c:invertIfNegative val="0"/>
          <c:dLbls>
            <c:numFmt formatCode="#,##0" sourceLinked="0"/>
            <c:txPr>
              <a:bodyPr/>
              <a:lstStyle/>
              <a:p>
                <a:pPr>
                  <a:defRPr b="0" i="0" strike="noStrike" sz="800" u="none">
                    <a:solidFill>
                      <a:srgbClr val="23282E"/>
                    </a:solidFill>
                    <a:latin typeface="Calibri"/>
                  </a:defRPr>
                </a:pPr>
              </a:p>
            </c:txPr>
            <c:showLegendKey val="0"/>
            <c:showVal val="1"/>
            <c:showCatName val="0"/>
            <c:showSerName val="0"/>
            <c:showPercent val="0"/>
            <c:showBubbleSize val="0"/>
            <c:showLeaderLines val="0"/>
          </c:dLbls>
          <c:dPt>
            <c:idx val="0"/>
            <c:invertIfNegative val="0"/>
            <c:bubble3D val="0"/>
            <c:spPr>
              <a:solidFill>
                <a:srgbClr val="4A5560"/>
              </a:solidFill>
              <a:effectLst/>
            </c:spPr>
          </c:dPt>
          <c:dPt>
            <c:idx val="1"/>
            <c:invertIfNegative val="0"/>
            <c:bubble3D val="0"/>
            <c:spPr>
              <a:solidFill>
                <a:srgbClr val="4A5560"/>
              </a:solidFill>
              <a:effectLst/>
            </c:spPr>
          </c:dPt>
          <c:dPt>
            <c:idx val="2"/>
            <c:invertIfNegative val="0"/>
            <c:bubble3D val="0"/>
            <c:spPr>
              <a:solidFill>
                <a:srgbClr val="4A5560"/>
              </a:solidFill>
              <a:effectLst/>
            </c:spPr>
          </c:dPt>
          <c:dPt>
            <c:idx val="3"/>
            <c:invertIfNegative val="0"/>
            <c:bubble3D val="0"/>
            <c:spPr>
              <a:solidFill>
                <a:srgbClr val="4A5560"/>
              </a:solidFill>
              <a:effectLst/>
            </c:spPr>
          </c:dPt>
          <c:dPt>
            <c:idx val="4"/>
            <c:invertIfNegative val="0"/>
            <c:bubble3D val="0"/>
            <c:spPr>
              <a:solidFill>
                <a:srgbClr val="C2703B"/>
              </a:solidFill>
              <a:effectLst/>
            </c:spPr>
          </c:dPt>
          <c:dPt>
            <c:idx val="5"/>
            <c:invertIfNegative val="0"/>
            <c:bubble3D val="0"/>
            <c:spPr>
              <a:solidFill>
                <a:srgbClr val="4A5560"/>
              </a:solidFill>
              <a:effectLst/>
            </c:spPr>
          </c:dPt>
          <c:cat>
            <c:multiLvlStrRef>
              <c:f>Sheet1!$A$2:$A$7</c:f>
              <c:multiLvlStrCache>
                <c:ptCount val="6"/>
                <c:lvl>
                  <c:pt idx="0">
                    <c:v>1</c:v>
                  </c:pt>
                  <c:pt idx="1">
                    <c:v>4</c:v>
                  </c:pt>
                  <c:pt idx="2">
                    <c:v>8</c:v>
                  </c:pt>
                  <c:pt idx="3">
                    <c:v>16</c:v>
                  </c:pt>
                  <c:pt idx="4">
                    <c:v>32</c:v>
                  </c:pt>
                  <c:pt idx="5">
                    <c:v>64</c:v>
                  </c:pt>
                </c:lvl>
              </c:multiLvlStrCache>
            </c:multiLvlStrRef>
          </c:cat>
          <c:val>
            <c:numRef>
              <c:f>Sheet1!$B$2:$B$7</c:f>
              <c:numCache>
                <c:formatCode>General</c:formatCode>
                <c:ptCount val="6"/>
                <c:pt idx="0">
                  <c:v>42.1</c:v>
                </c:pt>
                <c:pt idx="1">
                  <c:v>109.7</c:v>
                </c:pt>
                <c:pt idx="2">
                  <c:v>141</c:v>
                </c:pt>
                <c:pt idx="3">
                  <c:v>165.2</c:v>
                </c:pt>
                <c:pt idx="4">
                  <c:v>184.4</c:v>
                </c:pt>
                <c:pt idx="5">
                  <c:v>127.9</c:v>
                </c:pt>
              </c:numCache>
            </c:numRef>
          </c:val>
        </c:ser>
        <c:dLbls>
          <c:numFmt formatCode="#,##0" sourceLinked="0"/>
          <c:txPr>
            <a:bodyPr/>
            <a:lstStyle/>
            <a:p>
              <a:pPr>
                <a:defRPr b="0" i="0" strike="noStrike" sz="800" u="none">
                  <a:solidFill>
                    <a:srgbClr val="23282E"/>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C8895"/>
                </a:solidFill>
                <a:latin typeface="Calibri"/>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6350" cap="flat">
              <a:solidFill>
                <a:srgbClr val="DD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895"/>
                </a:solidFill>
                <a:latin typeface="Calibri"/>
              </a:defRPr>
            </a:pPr>
            <a:endParaRPr lang="en-US"/>
          </a:p>
        </c:txPr>
        <c:crossAx val="2094734554"/>
        <c:crosses val="autoZero"/>
        <c:crossBetween val="between"/>
        <c:majorUnit val="50"/>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691640"/>
            <a:ext cx="7589520" cy="1737360"/>
          </a:xfrm>
          <a:prstGeom prst="rect">
            <a:avLst/>
          </a:prstGeom>
          <a:noFill/>
          <a:ln/>
        </p:spPr>
        <p:txBody>
          <a:bodyPr wrap="square" lIns="0" tIns="0" rIns="0" bIns="0" rtlCol="0" anchor="ctr"/>
          <a:lstStyle/>
          <a:p>
            <a:pPr indent="0" marL="0">
              <a:lnSpc>
                <a:spcPct val="108000"/>
              </a:lnSpc>
              <a:buNone/>
            </a:pPr>
            <a:r>
              <a:rPr lang="en-US" sz="3600" b="1" dirty="0">
                <a:solidFill>
                  <a:srgbClr val="23282E"/>
                </a:solidFill>
                <a:latin typeface="Cambria" pitchFamily="34" charset="0"/>
                <a:ea typeface="Cambria" pitchFamily="34" charset="-122"/>
                <a:cs typeface="Cambria" pitchFamily="34" charset="-120"/>
              </a:rPr>
              <a:t>AI-Based Restoration of</a:t>
            </a:r>
            <a:endParaRPr lang="en-US" sz="3600" dirty="0"/>
          </a:p>
          <a:p>
            <a:pPr indent="0" marL="0">
              <a:lnSpc>
                <a:spcPct val="108000"/>
              </a:lnSpc>
              <a:buNone/>
            </a:pPr>
            <a:r>
              <a:rPr lang="en-US" sz="3600" b="1" dirty="0">
                <a:solidFill>
                  <a:srgbClr val="23282E"/>
                </a:solidFill>
                <a:latin typeface="Cambria" pitchFamily="34" charset="0"/>
                <a:ea typeface="Cambria" pitchFamily="34" charset="-122"/>
                <a:cs typeface="Cambria" pitchFamily="34" charset="-120"/>
              </a:rPr>
              <a:t>Degraded Inspection Images</a:t>
            </a:r>
            <a:endParaRPr lang="en-US" sz="3600" dirty="0"/>
          </a:p>
        </p:txBody>
      </p:sp>
      <p:sp>
        <p:nvSpPr>
          <p:cNvPr id="3" name="Text 1"/>
          <p:cNvSpPr txBox="1"/>
          <p:nvPr/>
        </p:nvSpPr>
        <p:spPr>
          <a:xfrm>
            <a:off x="822960" y="3566160"/>
            <a:ext cx="7589520" cy="310896"/>
          </a:xfrm>
          <a:prstGeom prst="rect">
            <a:avLst/>
          </a:prstGeom>
          <a:noFill/>
          <a:ln/>
        </p:spPr>
        <p:txBody>
          <a:bodyPr wrap="square" lIns="0" tIns="0" rIns="0" bIns="0" rtlCol="0" anchor="t"/>
          <a:lstStyle/>
          <a:p>
            <a:pPr algn="l" indent="0" marL="0">
              <a:lnSpc>
                <a:spcPct val="118000"/>
              </a:lnSpc>
              <a:buNone/>
            </a:pPr>
            <a:r>
              <a:rPr lang="en-US" sz="1150" b="1" dirty="0">
                <a:solidFill>
                  <a:srgbClr val="C2703B"/>
                </a:solidFill>
                <a:latin typeface="Calibri" pitchFamily="34" charset="0"/>
                <a:ea typeface="Calibri" pitchFamily="34" charset="-122"/>
                <a:cs typeface="Calibri" pitchFamily="34" charset="-120"/>
              </a:rPr>
              <a:t>KLA Problem Statement PS01   ·   SEMICON India Hackathon 2026   ·   Grand Finale</a:t>
            </a:r>
            <a:endParaRPr lang="en-US" sz="1150" dirty="0"/>
          </a:p>
        </p:txBody>
      </p:sp>
      <p:sp>
        <p:nvSpPr>
          <p:cNvPr id="4" name="Shape 2"/>
          <p:cNvSpPr/>
          <p:nvPr/>
        </p:nvSpPr>
        <p:spPr>
          <a:xfrm>
            <a:off x="822960" y="4343400"/>
            <a:ext cx="4572000" cy="1188720"/>
          </a:xfrm>
          <a:prstGeom prst="roundRect">
            <a:avLst>
              <a:gd name="adj" fmla="val 3077"/>
            </a:avLst>
          </a:prstGeom>
          <a:solidFill>
            <a:srgbClr val="ECEFF2"/>
          </a:solidFill>
          <a:ln w="9525">
            <a:solidFill>
              <a:srgbClr val="DDE2E7"/>
            </a:solidFill>
            <a:prstDash val="solid"/>
          </a:ln>
        </p:spPr>
      </p:sp>
      <p:sp>
        <p:nvSpPr>
          <p:cNvPr id="5" name="Text 3"/>
          <p:cNvSpPr txBox="1"/>
          <p:nvPr/>
        </p:nvSpPr>
        <p:spPr>
          <a:xfrm>
            <a:off x="1051560" y="4526280"/>
            <a:ext cx="4114800" cy="914400"/>
          </a:xfrm>
          <a:prstGeom prst="rect">
            <a:avLst/>
          </a:prstGeom>
          <a:noFill/>
          <a:ln/>
        </p:spPr>
        <p:txBody>
          <a:bodyPr wrap="square" lIns="0" tIns="0" rIns="0" bIns="0" rtlCol="0" anchor="t"/>
          <a:lstStyle/>
          <a:p>
            <a:pPr algn="l" indent="0" marL="0">
              <a:lnSpc>
                <a:spcPct val="125000"/>
              </a:lnSpc>
              <a:buNone/>
            </a:pPr>
            <a:r>
              <a:rPr lang="en-US" sz="1100" dirty="0">
                <a:solidFill>
                  <a:srgbClr val="23282E"/>
                </a:solidFill>
                <a:latin typeface="Calibri" pitchFamily="34" charset="0"/>
                <a:ea typeface="Calibri" pitchFamily="34" charset="-122"/>
                <a:cs typeface="Calibri" pitchFamily="34" charset="-120"/>
              </a:rPr>
              <a:t>Team  ForgeX</a:t>
            </a:r>
            <a:endParaRPr lang="en-US" sz="1100" dirty="0"/>
          </a:p>
          <a:p>
            <a:pPr algn="l" indent="0" marL="0">
              <a:lnSpc>
                <a:spcPct val="125000"/>
              </a:lnSpc>
              <a:buNone/>
            </a:pPr>
            <a:r>
              <a:rPr lang="en-US" sz="1100" dirty="0">
                <a:solidFill>
                  <a:srgbClr val="23282E"/>
                </a:solidFill>
                <a:latin typeface="Calibri" pitchFamily="34" charset="0"/>
                <a:ea typeface="Calibri" pitchFamily="34" charset="-122"/>
                <a:cs typeface="Calibri" pitchFamily="34" charset="-120"/>
              </a:rPr>
              <a:t>Abishek SR  ·  Anmol BA  ·  Hardik</a:t>
            </a:r>
            <a:endParaRPr lang="en-US" sz="1100" dirty="0"/>
          </a:p>
          <a:p>
            <a:pPr algn="l" indent="0" marL="0">
              <a:lnSpc>
                <a:spcPct val="125000"/>
              </a:lnSpc>
              <a:buNone/>
            </a:pPr>
            <a:r>
              <a:rPr lang="en-US" sz="1100" dirty="0">
                <a:solidFill>
                  <a:srgbClr val="23282E"/>
                </a:solidFill>
                <a:latin typeface="Calibri" pitchFamily="34" charset="0"/>
                <a:ea typeface="Calibri" pitchFamily="34" charset="-122"/>
                <a:cs typeface="Calibri" pitchFamily="34" charset="-120"/>
              </a:rPr>
              <a:t>VIT Vellore</a:t>
            </a:r>
            <a:endParaRPr lang="en-US" sz="1100" dirty="0"/>
          </a:p>
        </p:txBody>
      </p:sp>
      <p:sp>
        <p:nvSpPr>
          <p:cNvPr id="6" name="Shape 4"/>
          <p:cNvSpPr/>
          <p:nvPr/>
        </p:nvSpPr>
        <p:spPr>
          <a:xfrm>
            <a:off x="8732520" y="1691640"/>
            <a:ext cx="2926080" cy="3840480"/>
          </a:xfrm>
          <a:prstGeom prst="roundRect">
            <a:avLst>
              <a:gd name="adj" fmla="val 1250"/>
            </a:avLst>
          </a:prstGeom>
          <a:solidFill>
            <a:srgbClr val="FFFFFF"/>
          </a:solidFill>
          <a:ln w="9525">
            <a:solidFill>
              <a:srgbClr val="DDE2E7"/>
            </a:solidFill>
            <a:prstDash val="solid"/>
          </a:ln>
        </p:spPr>
      </p:sp>
      <p:sp>
        <p:nvSpPr>
          <p:cNvPr id="7" name="Text 5"/>
          <p:cNvSpPr txBox="1"/>
          <p:nvPr/>
        </p:nvSpPr>
        <p:spPr>
          <a:xfrm>
            <a:off x="9006840" y="1920240"/>
            <a:ext cx="2468880" cy="502920"/>
          </a:xfrm>
          <a:prstGeom prst="rect">
            <a:avLst/>
          </a:prstGeom>
          <a:noFill/>
          <a:ln/>
        </p:spPr>
        <p:txBody>
          <a:bodyPr wrap="square" lIns="0" tIns="0" rIns="0" bIns="0" rtlCol="0" anchor="ctr"/>
          <a:lstStyle/>
          <a:p>
            <a:pPr indent="0" marL="0">
              <a:buNone/>
            </a:pPr>
            <a:r>
              <a:rPr lang="en-US" sz="2600" b="1" dirty="0">
                <a:solidFill>
                  <a:srgbClr val="C2703B"/>
                </a:solidFill>
                <a:latin typeface="Cambria" pitchFamily="34" charset="0"/>
                <a:ea typeface="Cambria" pitchFamily="34" charset="-122"/>
                <a:cs typeface="Cambria" pitchFamily="34" charset="-120"/>
              </a:rPr>
              <a:t>23.8297</a:t>
            </a:r>
            <a:endParaRPr lang="en-US" sz="2600" dirty="0"/>
          </a:p>
        </p:txBody>
      </p:sp>
      <p:sp>
        <p:nvSpPr>
          <p:cNvPr id="8" name="Text 6"/>
          <p:cNvSpPr txBox="1"/>
          <p:nvPr/>
        </p:nvSpPr>
        <p:spPr>
          <a:xfrm>
            <a:off x="9006840" y="2423160"/>
            <a:ext cx="246888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PSNR  ·  organisers' 297-image test set</a:t>
            </a:r>
            <a:endParaRPr lang="en-US" sz="950" dirty="0"/>
          </a:p>
        </p:txBody>
      </p:sp>
      <p:sp>
        <p:nvSpPr>
          <p:cNvPr id="9" name="Text 7"/>
          <p:cNvSpPr txBox="1"/>
          <p:nvPr/>
        </p:nvSpPr>
        <p:spPr>
          <a:xfrm>
            <a:off x="9006840" y="2880360"/>
            <a:ext cx="2468880" cy="502920"/>
          </a:xfrm>
          <a:prstGeom prst="rect">
            <a:avLst/>
          </a:prstGeom>
          <a:noFill/>
          <a:ln/>
        </p:spPr>
        <p:txBody>
          <a:bodyPr wrap="square" lIns="0" tIns="0" rIns="0" bIns="0" rtlCol="0" anchor="ctr"/>
          <a:lstStyle/>
          <a:p>
            <a:pPr indent="0" marL="0">
              <a:buNone/>
            </a:pPr>
            <a:r>
              <a:rPr lang="en-US" sz="2600" b="1" dirty="0">
                <a:solidFill>
                  <a:srgbClr val="C2703B"/>
                </a:solidFill>
                <a:latin typeface="Cambria" pitchFamily="34" charset="0"/>
                <a:ea typeface="Cambria" pitchFamily="34" charset="-122"/>
                <a:cs typeface="Cambria" pitchFamily="34" charset="-120"/>
              </a:rPr>
              <a:t>1.56×</a:t>
            </a:r>
            <a:endParaRPr lang="en-US" sz="2600" dirty="0"/>
          </a:p>
        </p:txBody>
      </p:sp>
      <p:sp>
        <p:nvSpPr>
          <p:cNvPr id="10" name="Text 8"/>
          <p:cNvSpPr txBox="1"/>
          <p:nvPr/>
        </p:nvSpPr>
        <p:spPr>
          <a:xfrm>
            <a:off x="9006840" y="3383280"/>
            <a:ext cx="246888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faster end-to-end, TensorRT vs PyTorch</a:t>
            </a:r>
            <a:endParaRPr lang="en-US" sz="950" dirty="0"/>
          </a:p>
        </p:txBody>
      </p:sp>
      <p:sp>
        <p:nvSpPr>
          <p:cNvPr id="11" name="Text 9"/>
          <p:cNvSpPr txBox="1"/>
          <p:nvPr/>
        </p:nvSpPr>
        <p:spPr>
          <a:xfrm>
            <a:off x="9006840" y="3840480"/>
            <a:ext cx="2468880" cy="502920"/>
          </a:xfrm>
          <a:prstGeom prst="rect">
            <a:avLst/>
          </a:prstGeom>
          <a:noFill/>
          <a:ln/>
        </p:spPr>
        <p:txBody>
          <a:bodyPr wrap="square" lIns="0" tIns="0" rIns="0" bIns="0" rtlCol="0" anchor="ctr"/>
          <a:lstStyle/>
          <a:p>
            <a:pPr indent="0" marL="0">
              <a:buNone/>
            </a:pPr>
            <a:r>
              <a:rPr lang="en-US" sz="2600" b="1" dirty="0">
                <a:solidFill>
                  <a:srgbClr val="C2703B"/>
                </a:solidFill>
                <a:latin typeface="Cambria" pitchFamily="34" charset="0"/>
                <a:ea typeface="Cambria" pitchFamily="34" charset="-122"/>
                <a:cs typeface="Cambria" pitchFamily="34" charset="-120"/>
              </a:rPr>
              <a:t>5 stops</a:t>
            </a:r>
            <a:endParaRPr lang="en-US" sz="2600" dirty="0"/>
          </a:p>
        </p:txBody>
      </p:sp>
      <p:sp>
        <p:nvSpPr>
          <p:cNvPr id="12" name="Text 10"/>
          <p:cNvSpPr txBox="1"/>
          <p:nvPr/>
        </p:nvSpPr>
        <p:spPr>
          <a:xfrm>
            <a:off x="9006840" y="4343400"/>
            <a:ext cx="246888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quality/speed knob, each one measurable</a:t>
            </a:r>
            <a:endParaRPr lang="en-US" sz="950" dirty="0"/>
          </a:p>
        </p:txBody>
      </p:sp>
      <p:sp>
        <p:nvSpPr>
          <p:cNvPr id="13" name="Text 11"/>
          <p:cNvSpPr txBox="1"/>
          <p:nvPr/>
        </p:nvSpPr>
        <p:spPr>
          <a:xfrm>
            <a:off x="822960" y="5943600"/>
            <a:ext cx="1088136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1,346,360 parameters  ·  5.4 MB  ·  297 images in 1.51 s on an H100  ·  five portable TensorRT engines with a PyTorch fallback on 15 conditions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What Changed at the Finale</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A different architecture, a quality/speed knob, and a TensorRT runtime. Every row below is measured, and the two model rows are scored by the same code on the same 297 images.</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858000" cy="914400"/>
        </p:xfrm>
        <a:graphic>
          <a:graphicData uri="http://schemas.openxmlformats.org/drawingml/2006/table">
            <a:tbl>
              <a:tblPr/>
              <a:tblGrid>
                <a:gridCol w="2286000"/>
                <a:gridCol w="1600200"/>
                <a:gridCol w="1600200"/>
                <a:gridCol w="1371600"/>
              </a:tblGrid>
              <a:tr h="274320">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Round 2 — forgex</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Finale — e1f_gate</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Δ</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PSNR (297 images)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23.632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23.8296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+0.198 dB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SSIM</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0.60792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0.62104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+0.0131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LPIPS  (lower better)</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0.19287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0.18126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−0.0116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Parameters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1,368,705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1,346,360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−22,345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Gain over bicubic</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+3.177 dB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+3.374 dB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+0.197 dB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End-to-end, 297 imgs, H100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2.586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2.046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1.26× faster</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Quality/speed control</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5 engine-backed stops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Runtime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PyTorch</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TensorRT + fallback</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bl>
          </a:graphicData>
        </a:graphic>
      </p:graphicFrame>
      <p:sp>
        <p:nvSpPr>
          <p:cNvPr id="5" name="Text 2"/>
          <p:cNvSpPr txBox="1"/>
          <p:nvPr/>
        </p:nvSpPr>
        <p:spPr>
          <a:xfrm>
            <a:off x="548640" y="4297680"/>
            <a:ext cx="685800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kla2/results/final.csv — one scoring pass, one baseline, same GPU.</a:t>
            </a:r>
            <a:endParaRPr lang="en-US" sz="950" dirty="0"/>
          </a:p>
        </p:txBody>
      </p:sp>
      <p:sp>
        <p:nvSpPr>
          <p:cNvPr id="6" name="Shape 3"/>
          <p:cNvSpPr/>
          <p:nvPr/>
        </p:nvSpPr>
        <p:spPr>
          <a:xfrm>
            <a:off x="7635240" y="1417320"/>
            <a:ext cx="3977640" cy="2240280"/>
          </a:xfrm>
          <a:prstGeom prst="roundRect">
            <a:avLst>
              <a:gd name="adj" fmla="val 1633"/>
            </a:avLst>
          </a:prstGeom>
          <a:solidFill>
            <a:srgbClr val="FBF2EC"/>
          </a:solidFill>
          <a:ln w="9525">
            <a:solidFill>
              <a:srgbClr val="E3A574"/>
            </a:solidFill>
            <a:prstDash val="solid"/>
          </a:ln>
        </p:spPr>
      </p:sp>
      <p:sp>
        <p:nvSpPr>
          <p:cNvPr id="7" name="Text 4"/>
          <p:cNvSpPr txBox="1"/>
          <p:nvPr/>
        </p:nvSpPr>
        <p:spPr>
          <a:xfrm>
            <a:off x="7909560" y="161848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THE FINALE BRIEF</a:t>
            </a:r>
            <a:endParaRPr lang="en-US" sz="950" dirty="0"/>
          </a:p>
        </p:txBody>
      </p:sp>
      <p:sp>
        <p:nvSpPr>
          <p:cNvPr id="8" name="Text 5"/>
          <p:cNvSpPr txBox="1"/>
          <p:nvPr/>
        </p:nvSpPr>
        <p:spPr>
          <a:xfrm>
            <a:off x="7909560" y="1901952"/>
            <a:ext cx="3474720" cy="1645920"/>
          </a:xfrm>
          <a:prstGeom prst="rect">
            <a:avLst/>
          </a:prstGeom>
          <a:noFill/>
          <a:ln/>
        </p:spPr>
        <p:txBody>
          <a:bodyPr wrap="square" lIns="0" tIns="0" rIns="0" bIns="0" rtlCol="0" anchor="t"/>
          <a:lstStyle/>
          <a:p>
            <a:pPr algn="l" indent="0" marL="0">
              <a:lnSpc>
                <a:spcPct val="120000"/>
              </a:lnSpc>
              <a:buNone/>
            </a:pPr>
            <a:r>
              <a:rPr lang="en-US" sz="1050" dirty="0">
                <a:solidFill>
                  <a:srgbClr val="23282E"/>
                </a:solidFill>
                <a:latin typeface="Calibri" pitchFamily="34" charset="0"/>
                <a:ea typeface="Calibri" pitchFamily="34" charset="-122"/>
                <a:cs typeface="Calibri" pitchFamily="34" charset="-120"/>
              </a:rPr>
              <a:t>The organisers released a further 1,197 real pairs, taking training data to 5,982, and asked for inference-time optimisation and batch-size tuning on an H100.</a:t>
            </a:r>
            <a:endParaRPr lang="en-US" sz="1050" dirty="0"/>
          </a:p>
          <a:p>
            <a:pPr algn="l" indent="0" marL="0">
              <a:lnSpc>
                <a:spcPct val="120000"/>
              </a:lnSpc>
              <a:buNone/>
            </a:pPr>
            <a:endParaRPr lang="en-US" sz="1050" dirty="0"/>
          </a:p>
          <a:p>
            <a:pPr algn="l" indent="0" marL="0">
              <a:lnSpc>
                <a:spcPct val="120000"/>
              </a:lnSpc>
              <a:buNone/>
            </a:pPr>
            <a:r>
              <a:rPr lang="en-US" sz="1050" dirty="0">
                <a:solidFill>
                  <a:srgbClr val="23282E"/>
                </a:solidFill>
                <a:latin typeface="Calibri" pitchFamily="34" charset="0"/>
                <a:ea typeface="Calibri" pitchFamily="34" charset="-122"/>
                <a:cs typeface="Calibri" pitchFamily="34" charset="-120"/>
              </a:rPr>
              <a:t>We merged the corpora, re-ran the architecture search, and rebuilt the runtime.</a:t>
            </a:r>
            <a:endParaRPr lang="en-US" sz="1050" dirty="0"/>
          </a:p>
        </p:txBody>
      </p:sp>
      <p:sp>
        <p:nvSpPr>
          <p:cNvPr id="9" name="Shape 6"/>
          <p:cNvSpPr/>
          <p:nvPr/>
        </p:nvSpPr>
        <p:spPr>
          <a:xfrm>
            <a:off x="7635240" y="3794760"/>
            <a:ext cx="3977640" cy="2240280"/>
          </a:xfrm>
          <a:prstGeom prst="roundRect">
            <a:avLst>
              <a:gd name="adj" fmla="val 1633"/>
            </a:avLst>
          </a:prstGeom>
          <a:solidFill>
            <a:srgbClr val="FFFFFF"/>
          </a:solidFill>
          <a:ln w="9525">
            <a:solidFill>
              <a:srgbClr val="DDE2E7"/>
            </a:solidFill>
            <a:prstDash val="solid"/>
          </a:ln>
        </p:spPr>
      </p:sp>
      <p:sp>
        <p:nvSpPr>
          <p:cNvPr id="10" name="Text 7"/>
          <p:cNvSpPr txBox="1"/>
          <p:nvPr/>
        </p:nvSpPr>
        <p:spPr>
          <a:xfrm>
            <a:off x="7909560" y="399592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WHAT DID NOT CHANGE</a:t>
            </a:r>
            <a:endParaRPr lang="en-US" sz="950" dirty="0"/>
          </a:p>
        </p:txBody>
      </p:sp>
      <p:sp>
        <p:nvSpPr>
          <p:cNvPr id="11" name="Text 8"/>
          <p:cNvSpPr txBox="1"/>
          <p:nvPr/>
        </p:nvSpPr>
        <p:spPr>
          <a:xfrm>
            <a:off x="7909560" y="4279392"/>
            <a:ext cx="3474720" cy="1645920"/>
          </a:xfrm>
          <a:prstGeom prst="rect">
            <a:avLst/>
          </a:prstGeom>
          <a:noFill/>
          <a:ln/>
        </p:spPr>
        <p:txBody>
          <a:bodyPr wrap="square" lIns="0" tIns="0" rIns="0" bIns="0" rtlCol="0" anchor="t"/>
          <a:lstStyle/>
          <a:p>
            <a:pPr algn="l" indent="0" marL="0">
              <a:lnSpc>
                <a:spcPct val="120000"/>
              </a:lnSpc>
              <a:buNone/>
            </a:pPr>
            <a:r>
              <a:rPr lang="en-US" sz="1050" dirty="0">
                <a:solidFill>
                  <a:srgbClr val="23282E"/>
                </a:solidFill>
                <a:latin typeface="Calibri" pitchFamily="34" charset="0"/>
                <a:ea typeface="Calibri" pitchFamily="34" charset="-122"/>
                <a:cs typeface="Calibri" pitchFamily="34" charset="-120"/>
              </a:rPr>
              <a:t>The degradation law, the variance-stabilising stem, the global bicubic skip, the zero-initialised tail, the loss weights, and the training schedule are all Round 2's, unchanged.</a:t>
            </a:r>
            <a:endParaRPr lang="en-US" sz="1050" dirty="0"/>
          </a:p>
          <a:p>
            <a:pPr algn="l" indent="0" marL="0">
              <a:lnSpc>
                <a:spcPct val="120000"/>
              </a:lnSpc>
              <a:buNone/>
            </a:pPr>
            <a:endParaRPr lang="en-US" sz="1050" dirty="0"/>
          </a:p>
          <a:p>
            <a:pPr algn="l" indent="0" marL="0">
              <a:lnSpc>
                <a:spcPct val="120000"/>
              </a:lnSpc>
              <a:buNone/>
            </a:pPr>
            <a:r>
              <a:rPr lang="en-US" sz="1050" dirty="0">
                <a:solidFill>
                  <a:srgbClr val="23282E"/>
                </a:solidFill>
                <a:latin typeface="Calibri" pitchFamily="34" charset="0"/>
                <a:ea typeface="Calibri" pitchFamily="34" charset="-122"/>
                <a:cs typeface="Calibri" pitchFamily="34" charset="-120"/>
              </a:rPr>
              <a:t>That is deliberate: with one variable moving, the comparison means something.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What the Two Days Actually Looked Like</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Including the part where we lost the machine holding the trained weights.</a:t>
            </a:r>
            <a:endParaRPr lang="en-US" sz="1150" dirty="0"/>
          </a:p>
        </p:txBody>
      </p:sp>
      <p:sp>
        <p:nvSpPr>
          <p:cNvPr id="4" name="Shape 2"/>
          <p:cNvSpPr/>
          <p:nvPr/>
        </p:nvSpPr>
        <p:spPr>
          <a:xfrm>
            <a:off x="548640" y="1371600"/>
            <a:ext cx="6858000" cy="749808"/>
          </a:xfrm>
          <a:prstGeom prst="roundRect">
            <a:avLst>
              <a:gd name="adj" fmla="val 4878"/>
            </a:avLst>
          </a:prstGeom>
          <a:solidFill>
            <a:srgbClr val="FFFFFF"/>
          </a:solidFill>
          <a:ln w="9525">
            <a:solidFill>
              <a:srgbClr val="DDE2E7"/>
            </a:solidFill>
            <a:prstDash val="solid"/>
          </a:ln>
        </p:spPr>
      </p:sp>
      <p:sp>
        <p:nvSpPr>
          <p:cNvPr id="5" name="Shape 3"/>
          <p:cNvSpPr/>
          <p:nvPr/>
        </p:nvSpPr>
        <p:spPr>
          <a:xfrm>
            <a:off x="749808" y="1545336"/>
            <a:ext cx="402336" cy="402336"/>
          </a:xfrm>
          <a:prstGeom prst="ellipse">
            <a:avLst/>
          </a:prstGeom>
          <a:solidFill>
            <a:srgbClr val="C2703B"/>
          </a:solidFill>
          <a:ln w="12700">
            <a:solidFill>
              <a:srgbClr val="C2703B"/>
            </a:solidFill>
            <a:prstDash val="solid"/>
          </a:ln>
        </p:spPr>
      </p:sp>
      <p:sp>
        <p:nvSpPr>
          <p:cNvPr id="6" name="Text 4"/>
          <p:cNvSpPr txBox="1"/>
          <p:nvPr/>
        </p:nvSpPr>
        <p:spPr>
          <a:xfrm>
            <a:off x="749808" y="154533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98448" y="1472184"/>
            <a:ext cx="1051560" cy="274320"/>
          </a:xfrm>
          <a:prstGeom prst="rect">
            <a:avLst/>
          </a:prstGeom>
          <a:noFill/>
          <a:ln/>
        </p:spPr>
        <p:txBody>
          <a:bodyPr wrap="square" lIns="0" tIns="0" rIns="0" bIns="0" rtlCol="0" anchor="t"/>
          <a:lstStyle/>
          <a:p>
            <a:pPr algn="l" indent="0" marL="0">
              <a:lnSpc>
                <a:spcPct val="118000"/>
              </a:lnSpc>
              <a:buNone/>
            </a:pPr>
            <a:r>
              <a:rPr lang="en-US" sz="1100" b="1" dirty="0">
                <a:solidFill>
                  <a:srgbClr val="23282E"/>
                </a:solidFill>
                <a:latin typeface="Calibri" pitchFamily="34" charset="0"/>
                <a:ea typeface="Calibri" pitchFamily="34" charset="-122"/>
                <a:cs typeface="Calibri" pitchFamily="34" charset="-120"/>
              </a:rPr>
              <a:t>Merge</a:t>
            </a:r>
            <a:endParaRPr lang="en-US" sz="1100" dirty="0"/>
          </a:p>
        </p:txBody>
      </p:sp>
      <p:sp>
        <p:nvSpPr>
          <p:cNvPr id="8" name="Text 6"/>
          <p:cNvSpPr txBox="1"/>
          <p:nvPr/>
        </p:nvSpPr>
        <p:spPr>
          <a:xfrm>
            <a:off x="2377440" y="1472184"/>
            <a:ext cx="4892040" cy="566928"/>
          </a:xfrm>
          <a:prstGeom prst="rect">
            <a:avLst/>
          </a:prstGeom>
          <a:noFill/>
          <a:ln/>
        </p:spPr>
        <p:txBody>
          <a:bodyPr wrap="square" lIns="0" tIns="0" rIns="0" bIns="0" rtlCol="0" anchor="t"/>
          <a:lstStyle/>
          <a:p>
            <a:pPr algn="l" indent="0" marL="0">
              <a:lnSpc>
                <a:spcPct val="115000"/>
              </a:lnSpc>
              <a:buNone/>
            </a:pPr>
            <a:r>
              <a:rPr lang="en-US" sz="1000" dirty="0">
                <a:solidFill>
                  <a:srgbClr val="4A5560"/>
                </a:solidFill>
                <a:latin typeface="Calibri" pitchFamily="34" charset="0"/>
                <a:ea typeface="Calibri" pitchFamily="34" charset="-122"/>
                <a:cs typeface="Calibri" pitchFamily="34" charset="-120"/>
              </a:rPr>
              <a:t>1,197 new pairs + 4,785 existing → 5,982, refusing to merge on any SHA-1 collision between the sets.</a:t>
            </a:r>
            <a:endParaRPr lang="en-US" sz="1000" dirty="0"/>
          </a:p>
        </p:txBody>
      </p:sp>
      <p:sp>
        <p:nvSpPr>
          <p:cNvPr id="9" name="Shape 7"/>
          <p:cNvSpPr/>
          <p:nvPr/>
        </p:nvSpPr>
        <p:spPr>
          <a:xfrm>
            <a:off x="548640" y="2249424"/>
            <a:ext cx="6858000" cy="749808"/>
          </a:xfrm>
          <a:prstGeom prst="roundRect">
            <a:avLst>
              <a:gd name="adj" fmla="val 4878"/>
            </a:avLst>
          </a:prstGeom>
          <a:solidFill>
            <a:srgbClr val="FFFFFF"/>
          </a:solidFill>
          <a:ln w="9525">
            <a:solidFill>
              <a:srgbClr val="DDE2E7"/>
            </a:solidFill>
            <a:prstDash val="solid"/>
          </a:ln>
        </p:spPr>
      </p:sp>
      <p:sp>
        <p:nvSpPr>
          <p:cNvPr id="10" name="Shape 8"/>
          <p:cNvSpPr/>
          <p:nvPr/>
        </p:nvSpPr>
        <p:spPr>
          <a:xfrm>
            <a:off x="749808" y="2423160"/>
            <a:ext cx="402336" cy="402336"/>
          </a:xfrm>
          <a:prstGeom prst="ellipse">
            <a:avLst/>
          </a:prstGeom>
          <a:solidFill>
            <a:srgbClr val="C2703B"/>
          </a:solidFill>
          <a:ln w="12700">
            <a:solidFill>
              <a:srgbClr val="C2703B"/>
            </a:solidFill>
            <a:prstDash val="solid"/>
          </a:ln>
        </p:spPr>
      </p:sp>
      <p:sp>
        <p:nvSpPr>
          <p:cNvPr id="11" name="Text 9"/>
          <p:cNvSpPr txBox="1"/>
          <p:nvPr/>
        </p:nvSpPr>
        <p:spPr>
          <a:xfrm>
            <a:off x="749808" y="24231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298448" y="2350008"/>
            <a:ext cx="1051560" cy="274320"/>
          </a:xfrm>
          <a:prstGeom prst="rect">
            <a:avLst/>
          </a:prstGeom>
          <a:noFill/>
          <a:ln/>
        </p:spPr>
        <p:txBody>
          <a:bodyPr wrap="square" lIns="0" tIns="0" rIns="0" bIns="0" rtlCol="0" anchor="t"/>
          <a:lstStyle/>
          <a:p>
            <a:pPr algn="l" indent="0" marL="0">
              <a:lnSpc>
                <a:spcPct val="118000"/>
              </a:lnSpc>
              <a:buNone/>
            </a:pPr>
            <a:r>
              <a:rPr lang="en-US" sz="1100" b="1" dirty="0">
                <a:solidFill>
                  <a:srgbClr val="23282E"/>
                </a:solidFill>
                <a:latin typeface="Calibri" pitchFamily="34" charset="0"/>
                <a:ea typeface="Calibri" pitchFamily="34" charset="-122"/>
                <a:cs typeface="Calibri" pitchFamily="34" charset="-120"/>
              </a:rPr>
              <a:t>Search</a:t>
            </a:r>
            <a:endParaRPr lang="en-US" sz="1100" dirty="0"/>
          </a:p>
        </p:txBody>
      </p:sp>
      <p:sp>
        <p:nvSpPr>
          <p:cNvPr id="13" name="Text 11"/>
          <p:cNvSpPr txBox="1"/>
          <p:nvPr/>
        </p:nvSpPr>
        <p:spPr>
          <a:xfrm>
            <a:off x="2377440" y="2350008"/>
            <a:ext cx="4892040" cy="566928"/>
          </a:xfrm>
          <a:prstGeom prst="rect">
            <a:avLst/>
          </a:prstGeom>
          <a:noFill/>
          <a:ln/>
        </p:spPr>
        <p:txBody>
          <a:bodyPr wrap="square" lIns="0" tIns="0" rIns="0" bIns="0" rtlCol="0" anchor="t"/>
          <a:lstStyle/>
          <a:p>
            <a:pPr algn="l" indent="0" marL="0">
              <a:lnSpc>
                <a:spcPct val="115000"/>
              </a:lnSpc>
              <a:buNone/>
            </a:pPr>
            <a:r>
              <a:rPr lang="en-US" sz="1000" dirty="0">
                <a:solidFill>
                  <a:srgbClr val="4A5560"/>
                </a:solidFill>
                <a:latin typeface="Calibri" pitchFamily="34" charset="0"/>
                <a:ea typeface="Calibri" pitchFamily="34" charset="-122"/>
                <a:cs typeface="Calibri" pitchFamily="34" charset="-120"/>
              </a:rPr>
              <a:t>Seven architecture variants at matched parameter budget, one scoring pass each.</a:t>
            </a:r>
            <a:endParaRPr lang="en-US" sz="1000" dirty="0"/>
          </a:p>
        </p:txBody>
      </p:sp>
      <p:sp>
        <p:nvSpPr>
          <p:cNvPr id="14" name="Shape 12"/>
          <p:cNvSpPr/>
          <p:nvPr/>
        </p:nvSpPr>
        <p:spPr>
          <a:xfrm>
            <a:off x="548640" y="3127248"/>
            <a:ext cx="6858000" cy="749808"/>
          </a:xfrm>
          <a:prstGeom prst="roundRect">
            <a:avLst>
              <a:gd name="adj" fmla="val 4878"/>
            </a:avLst>
          </a:prstGeom>
          <a:solidFill>
            <a:srgbClr val="FFFFFF"/>
          </a:solidFill>
          <a:ln w="9525">
            <a:solidFill>
              <a:srgbClr val="DDE2E7"/>
            </a:solidFill>
            <a:prstDash val="solid"/>
          </a:ln>
        </p:spPr>
      </p:sp>
      <p:sp>
        <p:nvSpPr>
          <p:cNvPr id="15" name="Shape 13"/>
          <p:cNvSpPr/>
          <p:nvPr/>
        </p:nvSpPr>
        <p:spPr>
          <a:xfrm>
            <a:off x="749808" y="3300984"/>
            <a:ext cx="402336" cy="402336"/>
          </a:xfrm>
          <a:prstGeom prst="ellipse">
            <a:avLst/>
          </a:prstGeom>
          <a:solidFill>
            <a:srgbClr val="C2703B"/>
          </a:solidFill>
          <a:ln w="12700">
            <a:solidFill>
              <a:srgbClr val="C2703B"/>
            </a:solidFill>
            <a:prstDash val="solid"/>
          </a:ln>
        </p:spPr>
      </p:sp>
      <p:sp>
        <p:nvSpPr>
          <p:cNvPr id="16" name="Text 14"/>
          <p:cNvSpPr txBox="1"/>
          <p:nvPr/>
        </p:nvSpPr>
        <p:spPr>
          <a:xfrm>
            <a:off x="749808" y="33009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298448" y="3227832"/>
            <a:ext cx="1051560" cy="274320"/>
          </a:xfrm>
          <a:prstGeom prst="rect">
            <a:avLst/>
          </a:prstGeom>
          <a:noFill/>
          <a:ln/>
        </p:spPr>
        <p:txBody>
          <a:bodyPr wrap="square" lIns="0" tIns="0" rIns="0" bIns="0" rtlCol="0" anchor="t"/>
          <a:lstStyle/>
          <a:p>
            <a:pPr algn="l" indent="0" marL="0">
              <a:lnSpc>
                <a:spcPct val="118000"/>
              </a:lnSpc>
              <a:buNone/>
            </a:pPr>
            <a:r>
              <a:rPr lang="en-US" sz="1100" b="1" dirty="0">
                <a:solidFill>
                  <a:srgbClr val="23282E"/>
                </a:solidFill>
                <a:latin typeface="Calibri" pitchFamily="34" charset="0"/>
                <a:ea typeface="Calibri" pitchFamily="34" charset="-122"/>
                <a:cs typeface="Calibri" pitchFamily="34" charset="-120"/>
              </a:rPr>
              <a:t>Diagnose</a:t>
            </a:r>
            <a:endParaRPr lang="en-US" sz="1100" dirty="0"/>
          </a:p>
        </p:txBody>
      </p:sp>
      <p:sp>
        <p:nvSpPr>
          <p:cNvPr id="18" name="Text 16"/>
          <p:cNvSpPr txBox="1"/>
          <p:nvPr/>
        </p:nvSpPr>
        <p:spPr>
          <a:xfrm>
            <a:off x="2377440" y="3227832"/>
            <a:ext cx="4892040" cy="566928"/>
          </a:xfrm>
          <a:prstGeom prst="rect">
            <a:avLst/>
          </a:prstGeom>
          <a:noFill/>
          <a:ln/>
        </p:spPr>
        <p:txBody>
          <a:bodyPr wrap="square" lIns="0" tIns="0" rIns="0" bIns="0" rtlCol="0" anchor="t"/>
          <a:lstStyle/>
          <a:p>
            <a:pPr algn="l" indent="0" marL="0">
              <a:lnSpc>
                <a:spcPct val="115000"/>
              </a:lnSpc>
              <a:buNone/>
            </a:pPr>
            <a:r>
              <a:rPr lang="en-US" sz="1000" dirty="0">
                <a:solidFill>
                  <a:srgbClr val="4A5560"/>
                </a:solidFill>
                <a:latin typeface="Calibri" pitchFamily="34" charset="0"/>
                <a:ea typeface="Calibri" pitchFamily="34" charset="-122"/>
                <a:cs typeface="Calibri" pitchFamily="34" charset="-120"/>
              </a:rPr>
              <a:t>Measured why our outputs were smoother than ground truth before changing anything.</a:t>
            </a:r>
            <a:endParaRPr lang="en-US" sz="1000" dirty="0"/>
          </a:p>
        </p:txBody>
      </p:sp>
      <p:sp>
        <p:nvSpPr>
          <p:cNvPr id="19" name="Shape 17"/>
          <p:cNvSpPr/>
          <p:nvPr/>
        </p:nvSpPr>
        <p:spPr>
          <a:xfrm>
            <a:off x="548640" y="4005072"/>
            <a:ext cx="6858000" cy="749808"/>
          </a:xfrm>
          <a:prstGeom prst="roundRect">
            <a:avLst>
              <a:gd name="adj" fmla="val 4878"/>
            </a:avLst>
          </a:prstGeom>
          <a:solidFill>
            <a:srgbClr val="FFFFFF"/>
          </a:solidFill>
          <a:ln w="9525">
            <a:solidFill>
              <a:srgbClr val="DDE2E7"/>
            </a:solidFill>
            <a:prstDash val="solid"/>
          </a:ln>
        </p:spPr>
      </p:sp>
      <p:sp>
        <p:nvSpPr>
          <p:cNvPr id="20" name="Shape 18"/>
          <p:cNvSpPr/>
          <p:nvPr/>
        </p:nvSpPr>
        <p:spPr>
          <a:xfrm>
            <a:off x="749808" y="4178808"/>
            <a:ext cx="402336" cy="402336"/>
          </a:xfrm>
          <a:prstGeom prst="ellipse">
            <a:avLst/>
          </a:prstGeom>
          <a:solidFill>
            <a:srgbClr val="C2703B"/>
          </a:solidFill>
          <a:ln w="12700">
            <a:solidFill>
              <a:srgbClr val="C2703B"/>
            </a:solidFill>
            <a:prstDash val="solid"/>
          </a:ln>
        </p:spPr>
      </p:sp>
      <p:sp>
        <p:nvSpPr>
          <p:cNvPr id="21" name="Text 19"/>
          <p:cNvSpPr txBox="1"/>
          <p:nvPr/>
        </p:nvSpPr>
        <p:spPr>
          <a:xfrm>
            <a:off x="749808" y="417880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298448" y="4105656"/>
            <a:ext cx="1051560" cy="274320"/>
          </a:xfrm>
          <a:prstGeom prst="rect">
            <a:avLst/>
          </a:prstGeom>
          <a:noFill/>
          <a:ln/>
        </p:spPr>
        <p:txBody>
          <a:bodyPr wrap="square" lIns="0" tIns="0" rIns="0" bIns="0" rtlCol="0" anchor="t"/>
          <a:lstStyle/>
          <a:p>
            <a:pPr algn="l" indent="0" marL="0">
              <a:lnSpc>
                <a:spcPct val="118000"/>
              </a:lnSpc>
              <a:buNone/>
            </a:pPr>
            <a:r>
              <a:rPr lang="en-US" sz="1100" b="1" dirty="0">
                <a:solidFill>
                  <a:srgbClr val="23282E"/>
                </a:solidFill>
                <a:latin typeface="Calibri" pitchFamily="34" charset="0"/>
                <a:ea typeface="Calibri" pitchFamily="34" charset="-122"/>
                <a:cs typeface="Calibri" pitchFamily="34" charset="-120"/>
              </a:rPr>
              <a:t>Knob</a:t>
            </a:r>
            <a:endParaRPr lang="en-US" sz="1100" dirty="0"/>
          </a:p>
        </p:txBody>
      </p:sp>
      <p:sp>
        <p:nvSpPr>
          <p:cNvPr id="23" name="Text 21"/>
          <p:cNvSpPr txBox="1"/>
          <p:nvPr/>
        </p:nvSpPr>
        <p:spPr>
          <a:xfrm>
            <a:off x="2377440" y="4105656"/>
            <a:ext cx="4892040" cy="566928"/>
          </a:xfrm>
          <a:prstGeom prst="rect">
            <a:avLst/>
          </a:prstGeom>
          <a:noFill/>
          <a:ln/>
        </p:spPr>
        <p:txBody>
          <a:bodyPr wrap="square" lIns="0" tIns="0" rIns="0" bIns="0" rtlCol="0" anchor="t"/>
          <a:lstStyle/>
          <a:p>
            <a:pPr algn="l" indent="0" marL="0">
              <a:lnSpc>
                <a:spcPct val="115000"/>
              </a:lnSpc>
              <a:buNone/>
            </a:pPr>
            <a:r>
              <a:rPr lang="en-US" sz="1000" dirty="0">
                <a:solidFill>
                  <a:srgbClr val="4A5560"/>
                </a:solidFill>
                <a:latin typeface="Calibri" pitchFamily="34" charset="0"/>
                <a:ea typeface="Calibri" pitchFamily="34" charset="-122"/>
                <a:cs typeface="Calibri" pitchFamily="34" charset="-120"/>
              </a:rPr>
              <a:t>Depth truncation, calibrated on the target GPU, published as a datasheet.</a:t>
            </a:r>
            <a:endParaRPr lang="en-US" sz="1000" dirty="0"/>
          </a:p>
        </p:txBody>
      </p:sp>
      <p:sp>
        <p:nvSpPr>
          <p:cNvPr id="24" name="Shape 22"/>
          <p:cNvSpPr/>
          <p:nvPr/>
        </p:nvSpPr>
        <p:spPr>
          <a:xfrm>
            <a:off x="548640" y="4882896"/>
            <a:ext cx="6858000" cy="749808"/>
          </a:xfrm>
          <a:prstGeom prst="roundRect">
            <a:avLst>
              <a:gd name="adj" fmla="val 4878"/>
            </a:avLst>
          </a:prstGeom>
          <a:solidFill>
            <a:srgbClr val="FFFFFF"/>
          </a:solidFill>
          <a:ln w="9525">
            <a:solidFill>
              <a:srgbClr val="DDE2E7"/>
            </a:solidFill>
            <a:prstDash val="solid"/>
          </a:ln>
        </p:spPr>
      </p:sp>
      <p:sp>
        <p:nvSpPr>
          <p:cNvPr id="25" name="Shape 23"/>
          <p:cNvSpPr/>
          <p:nvPr/>
        </p:nvSpPr>
        <p:spPr>
          <a:xfrm>
            <a:off x="749808" y="5056632"/>
            <a:ext cx="402336" cy="402336"/>
          </a:xfrm>
          <a:prstGeom prst="ellipse">
            <a:avLst/>
          </a:prstGeom>
          <a:solidFill>
            <a:srgbClr val="C2703B"/>
          </a:solidFill>
          <a:ln w="12700">
            <a:solidFill>
              <a:srgbClr val="C2703B"/>
            </a:solidFill>
            <a:prstDash val="solid"/>
          </a:ln>
        </p:spPr>
      </p:sp>
      <p:sp>
        <p:nvSpPr>
          <p:cNvPr id="26" name="Text 24"/>
          <p:cNvSpPr txBox="1"/>
          <p:nvPr/>
        </p:nvSpPr>
        <p:spPr>
          <a:xfrm>
            <a:off x="749808" y="505663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298448" y="4983480"/>
            <a:ext cx="1051560" cy="274320"/>
          </a:xfrm>
          <a:prstGeom prst="rect">
            <a:avLst/>
          </a:prstGeom>
          <a:noFill/>
          <a:ln/>
        </p:spPr>
        <p:txBody>
          <a:bodyPr wrap="square" lIns="0" tIns="0" rIns="0" bIns="0" rtlCol="0" anchor="t"/>
          <a:lstStyle/>
          <a:p>
            <a:pPr algn="l" indent="0" marL="0">
              <a:lnSpc>
                <a:spcPct val="118000"/>
              </a:lnSpc>
              <a:buNone/>
            </a:pPr>
            <a:r>
              <a:rPr lang="en-US" sz="1100" b="1" dirty="0">
                <a:solidFill>
                  <a:srgbClr val="23282E"/>
                </a:solidFill>
                <a:latin typeface="Calibri" pitchFamily="34" charset="0"/>
                <a:ea typeface="Calibri" pitchFamily="34" charset="-122"/>
                <a:cs typeface="Calibri" pitchFamily="34" charset="-120"/>
              </a:rPr>
              <a:t>Compile</a:t>
            </a:r>
            <a:endParaRPr lang="en-US" sz="1100" dirty="0"/>
          </a:p>
        </p:txBody>
      </p:sp>
      <p:sp>
        <p:nvSpPr>
          <p:cNvPr id="28" name="Text 26"/>
          <p:cNvSpPr txBox="1"/>
          <p:nvPr/>
        </p:nvSpPr>
        <p:spPr>
          <a:xfrm>
            <a:off x="2377440" y="4983480"/>
            <a:ext cx="4892040" cy="566928"/>
          </a:xfrm>
          <a:prstGeom prst="rect">
            <a:avLst/>
          </a:prstGeom>
          <a:noFill/>
          <a:ln/>
        </p:spPr>
        <p:txBody>
          <a:bodyPr wrap="square" lIns="0" tIns="0" rIns="0" bIns="0" rtlCol="0" anchor="t"/>
          <a:lstStyle/>
          <a:p>
            <a:pPr algn="l" indent="0" marL="0">
              <a:lnSpc>
                <a:spcPct val="115000"/>
              </a:lnSpc>
              <a:buNone/>
            </a:pPr>
            <a:r>
              <a:rPr lang="en-US" sz="1000" dirty="0">
                <a:solidFill>
                  <a:srgbClr val="4A5560"/>
                </a:solidFill>
                <a:latin typeface="Calibri" pitchFamily="34" charset="0"/>
                <a:ea typeface="Calibri" pitchFamily="34" charset="-122"/>
                <a:cs typeface="Calibri" pitchFamily="34" charset="-120"/>
              </a:rPr>
              <a:t>Five TensorRT engines, portable across Ampere and newer, with a PyTorch fallback.</a:t>
            </a:r>
            <a:endParaRPr lang="en-US" sz="1000" dirty="0"/>
          </a:p>
        </p:txBody>
      </p:sp>
      <p:sp>
        <p:nvSpPr>
          <p:cNvPr id="29" name="Shape 27"/>
          <p:cNvSpPr/>
          <p:nvPr/>
        </p:nvSpPr>
        <p:spPr>
          <a:xfrm>
            <a:off x="7635240" y="1371600"/>
            <a:ext cx="3977640" cy="2468880"/>
          </a:xfrm>
          <a:prstGeom prst="roundRect">
            <a:avLst>
              <a:gd name="adj" fmla="val 1481"/>
            </a:avLst>
          </a:prstGeom>
          <a:solidFill>
            <a:srgbClr val="FBF2EC"/>
          </a:solidFill>
          <a:ln w="9525">
            <a:solidFill>
              <a:srgbClr val="E3A574"/>
            </a:solidFill>
            <a:prstDash val="solid"/>
          </a:ln>
        </p:spPr>
      </p:sp>
      <p:sp>
        <p:nvSpPr>
          <p:cNvPr id="30" name="Text 28"/>
          <p:cNvSpPr txBox="1"/>
          <p:nvPr/>
        </p:nvSpPr>
        <p:spPr>
          <a:xfrm>
            <a:off x="7909560" y="157276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THE POD WAS TERMINATED</a:t>
            </a:r>
            <a:endParaRPr lang="en-US" sz="950" dirty="0"/>
          </a:p>
        </p:txBody>
      </p:sp>
      <p:sp>
        <p:nvSpPr>
          <p:cNvPr id="31" name="Text 29"/>
          <p:cNvSpPr txBox="1"/>
          <p:nvPr/>
        </p:nvSpPr>
        <p:spPr>
          <a:xfrm>
            <a:off x="7909560" y="1856232"/>
            <a:ext cx="3474720" cy="187452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Our rented H100 ended with the trained e1f_gate weights on it and nothing pulled back.</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They survived only because an earlier results tarball on the laptop happened to contain runs/e1f_gate/best.pt. We recovered it and confirmed it by SHA-1 — 61587e96… — against what the results table recorded.</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Nothing was reconstructed from memory.</a:t>
            </a:r>
            <a:endParaRPr lang="en-US" sz="1000" dirty="0"/>
          </a:p>
        </p:txBody>
      </p:sp>
      <p:sp>
        <p:nvSpPr>
          <p:cNvPr id="32" name="Shape 30"/>
          <p:cNvSpPr/>
          <p:nvPr/>
        </p:nvSpPr>
        <p:spPr>
          <a:xfrm>
            <a:off x="7635240" y="3977640"/>
            <a:ext cx="3977640" cy="2057400"/>
          </a:xfrm>
          <a:prstGeom prst="roundRect">
            <a:avLst>
              <a:gd name="adj" fmla="val 1778"/>
            </a:avLst>
          </a:prstGeom>
          <a:solidFill>
            <a:srgbClr val="FFFFFF"/>
          </a:solidFill>
          <a:ln w="9525">
            <a:solidFill>
              <a:srgbClr val="DDE2E7"/>
            </a:solidFill>
            <a:prstDash val="solid"/>
          </a:ln>
        </p:spPr>
      </p:sp>
      <p:sp>
        <p:nvSpPr>
          <p:cNvPr id="33" name="Text 31"/>
          <p:cNvSpPr txBox="1"/>
          <p:nvPr/>
        </p:nvSpPr>
        <p:spPr>
          <a:xfrm>
            <a:off x="7909560" y="417880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WHAT THAT COST, AND WHAT IT TAUGHT</a:t>
            </a:r>
            <a:endParaRPr lang="en-US" sz="950" dirty="0"/>
          </a:p>
        </p:txBody>
      </p:sp>
      <p:sp>
        <p:nvSpPr>
          <p:cNvPr id="34" name="Text 32"/>
          <p:cNvSpPr txBox="1"/>
          <p:nvPr/>
        </p:nvSpPr>
        <p:spPr>
          <a:xfrm>
            <a:off x="7909560" y="4462272"/>
            <a:ext cx="3474720" cy="146304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Rebuilding the five engines on a fresh pod took 145 seconds, because the build is a script and not a memory.</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Everything downstream of a checkpoint is keyed to its hash, so a recovered file either is the right one or is refused.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Diagnosis: Our Images Were Smoother Than the Truth</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We measured the deficit before choosing a fix. It is an amount problem, not a placement problem — and it is limited by image content, not by input noise.</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858000" cy="914400"/>
        </p:xfrm>
        <a:graphic>
          <a:graphicData uri="http://schemas.openxmlformats.org/drawingml/2006/table">
            <a:tbl>
              <a:tblPr/>
              <a:tblGrid>
                <a:gridCol w="1554480"/>
                <a:gridCol w="1463040"/>
                <a:gridCol w="1371600"/>
                <a:gridCol w="1371600"/>
                <a:gridCol w="1097280"/>
              </a:tblGrid>
              <a:tr h="292608">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150 images</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HF energy vs GT</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HF correlation</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Gradient ratio</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&gt; 1.0</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bicubic ×2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1.1610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0.2139</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1.0909</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e1a_base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0.2490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0.2954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0.4913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 / 150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e1f_gate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0.2823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0.3261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0.5360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 / 150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bl>
          </a:graphicData>
        </a:graphic>
      </p:graphicFrame>
      <p:sp>
        <p:nvSpPr>
          <p:cNvPr id="5" name="Text 2"/>
          <p:cNvSpPr txBox="1"/>
          <p:nvPr/>
        </p:nvSpPr>
        <p:spPr>
          <a:xfrm>
            <a:off x="548640" y="2788920"/>
            <a:ext cx="685800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HF = energy above the input's Nyquist band, as a ratio to ground truth. kla2/results/edges_*.csv</a:t>
            </a:r>
            <a:endParaRPr lang="en-US" sz="950" dirty="0"/>
          </a:p>
        </p:txBody>
      </p:sp>
      <p:sp>
        <p:nvSpPr>
          <p:cNvPr id="6" name="Shape 3"/>
          <p:cNvSpPr/>
          <p:nvPr/>
        </p:nvSpPr>
        <p:spPr>
          <a:xfrm>
            <a:off x="548640" y="3200400"/>
            <a:ext cx="6858000" cy="1371600"/>
          </a:xfrm>
          <a:prstGeom prst="roundRect">
            <a:avLst>
              <a:gd name="adj" fmla="val 2667"/>
            </a:avLst>
          </a:prstGeom>
          <a:solidFill>
            <a:srgbClr val="ECEFF2"/>
          </a:solidFill>
          <a:ln w="9525">
            <a:solidFill>
              <a:srgbClr val="DDE2E7"/>
            </a:solidFill>
            <a:prstDash val="solid"/>
          </a:ln>
        </p:spPr>
      </p:sp>
      <p:sp>
        <p:nvSpPr>
          <p:cNvPr id="7" name="Text 4"/>
          <p:cNvSpPr txBox="1"/>
          <p:nvPr/>
        </p:nvSpPr>
        <p:spPr>
          <a:xfrm>
            <a:off x="822960" y="3383280"/>
            <a:ext cx="630936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WHY THIS RULES OUT A REGISTRATION ERROR</a:t>
            </a:r>
            <a:endParaRPr lang="en-US" sz="950" dirty="0"/>
          </a:p>
        </p:txBody>
      </p:sp>
      <p:sp>
        <p:nvSpPr>
          <p:cNvPr id="8" name="Text 5"/>
          <p:cNvSpPr txBox="1"/>
          <p:nvPr/>
        </p:nvSpPr>
        <p:spPr>
          <a:xfrm>
            <a:off x="822960" y="3657600"/>
            <a:ext cx="6309360" cy="82296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Bicubic produces 116% of the ground truth's high-frequency energy but correlates with it at only 0.2139. Our model produces 28% and correlates at 0.3261. If the outputs were misaligned, correlation would fall — it rises. What is missing is amplitude, in the right places.</a:t>
            </a:r>
            <a:endParaRPr lang="en-US" sz="1050" dirty="0"/>
          </a:p>
        </p:txBody>
      </p:sp>
      <p:sp>
        <p:nvSpPr>
          <p:cNvPr id="9" name="Shape 6"/>
          <p:cNvSpPr/>
          <p:nvPr/>
        </p:nvSpPr>
        <p:spPr>
          <a:xfrm>
            <a:off x="548640" y="4709160"/>
            <a:ext cx="6858000" cy="1325880"/>
          </a:xfrm>
          <a:prstGeom prst="roundRect">
            <a:avLst>
              <a:gd name="adj" fmla="val 2759"/>
            </a:avLst>
          </a:prstGeom>
          <a:solidFill>
            <a:srgbClr val="FFFFFF"/>
          </a:solidFill>
          <a:ln w="9525">
            <a:solidFill>
              <a:srgbClr val="DDE2E7"/>
            </a:solidFill>
            <a:prstDash val="solid"/>
          </a:ln>
        </p:spPr>
      </p:sp>
      <p:sp>
        <p:nvSpPr>
          <p:cNvPr id="10" name="Text 7"/>
          <p:cNvSpPr txBox="1"/>
          <p:nvPr/>
        </p:nvSpPr>
        <p:spPr>
          <a:xfrm>
            <a:off x="822960" y="4892040"/>
            <a:ext cx="630936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NEITHER MODEL HALLUCINATES</a:t>
            </a:r>
            <a:endParaRPr lang="en-US" sz="950" dirty="0"/>
          </a:p>
        </p:txBody>
      </p:sp>
      <p:sp>
        <p:nvSpPr>
          <p:cNvPr id="11" name="Text 8"/>
          <p:cNvSpPr txBox="1"/>
          <p:nvPr/>
        </p:nvSpPr>
        <p:spPr>
          <a:xfrm>
            <a:off x="822960" y="5166360"/>
            <a:ext cx="6309360" cy="77724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Zero of 150 images exceed a high-frequency ratio of 1.0. Nothing is invented above the band where the input carries information — which is the failure mode a GAN would have introduced, and the reason we did not use one.</a:t>
            </a:r>
            <a:endParaRPr lang="en-US" sz="1050" dirty="0"/>
          </a:p>
        </p:txBody>
      </p:sp>
      <p:sp>
        <p:nvSpPr>
          <p:cNvPr id="12" name="Shape 9"/>
          <p:cNvSpPr/>
          <p:nvPr/>
        </p:nvSpPr>
        <p:spPr>
          <a:xfrm>
            <a:off x="7635240" y="1463040"/>
            <a:ext cx="3977640" cy="4572000"/>
          </a:xfrm>
          <a:prstGeom prst="roundRect">
            <a:avLst>
              <a:gd name="adj" fmla="val 920"/>
            </a:avLst>
          </a:prstGeom>
          <a:solidFill>
            <a:srgbClr val="FBF2EC"/>
          </a:solidFill>
          <a:ln w="9525">
            <a:solidFill>
              <a:srgbClr val="E3A574"/>
            </a:solidFill>
            <a:prstDash val="solid"/>
          </a:ln>
        </p:spPr>
      </p:sp>
      <p:sp>
        <p:nvSpPr>
          <p:cNvPr id="13" name="Text 10"/>
          <p:cNvSpPr txBox="1"/>
          <p:nvPr/>
        </p:nvSpPr>
        <p:spPr>
          <a:xfrm>
            <a:off x="7909560" y="166420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WHAT PREDICTS A BAD IMAGE</a:t>
            </a:r>
            <a:endParaRPr lang="en-US" sz="950" dirty="0"/>
          </a:p>
        </p:txBody>
      </p:sp>
      <p:sp>
        <p:nvSpPr>
          <p:cNvPr id="14" name="Text 11"/>
          <p:cNvSpPr txBox="1"/>
          <p:nvPr/>
        </p:nvSpPr>
        <p:spPr>
          <a:xfrm>
            <a:off x="7909560" y="1947672"/>
            <a:ext cx="3474720" cy="310896"/>
          </a:xfrm>
          <a:prstGeom prst="rect">
            <a:avLst/>
          </a:prstGeom>
          <a:noFill/>
          <a:ln/>
        </p:spPr>
        <p:txBody>
          <a:bodyPr wrap="square" lIns="0" tIns="0" rIns="0" bIns="0" rtlCol="0" anchor="t"/>
          <a:lstStyle/>
          <a:p>
            <a:pPr algn="l" indent="0" marL="0">
              <a:lnSpc>
                <a:spcPct val="118000"/>
              </a:lnSpc>
              <a:buNone/>
            </a:pPr>
            <a:r>
              <a:rPr lang="en-US" sz="1000" dirty="0">
                <a:solidFill>
                  <a:srgbClr val="4A5560"/>
                </a:solidFill>
                <a:latin typeface="Calibri" pitchFamily="34" charset="0"/>
                <a:ea typeface="Calibri" pitchFamily="34" charset="-122"/>
                <a:cs typeface="Calibri" pitchFamily="34" charset="-120"/>
              </a:rPr>
              <a:t>Correlation with the model's PSNR gain, per image, n = 297:</a:t>
            </a:r>
            <a:endParaRPr lang="en-US" sz="1000" dirty="0"/>
          </a:p>
        </p:txBody>
      </p:sp>
      <p:sp>
        <p:nvSpPr>
          <p:cNvPr id="15" name="Text 12"/>
          <p:cNvSpPr txBox="1"/>
          <p:nvPr/>
        </p:nvSpPr>
        <p:spPr>
          <a:xfrm>
            <a:off x="7909560" y="2395728"/>
            <a:ext cx="2286000" cy="256032"/>
          </a:xfrm>
          <a:prstGeom prst="rect">
            <a:avLst/>
          </a:prstGeom>
          <a:noFill/>
          <a:ln/>
        </p:spPr>
        <p:txBody>
          <a:bodyPr wrap="square" lIns="0" tIns="0" rIns="0" bIns="0" rtlCol="0" anchor="t"/>
          <a:lstStyle/>
          <a:p>
            <a:pPr algn="l" indent="0" marL="0">
              <a:lnSpc>
                <a:spcPct val="118000"/>
              </a:lnSpc>
              <a:buNone/>
            </a:pPr>
            <a:r>
              <a:rPr lang="en-US" sz="1050" b="1" dirty="0">
                <a:solidFill>
                  <a:srgbClr val="23282E"/>
                </a:solidFill>
                <a:latin typeface="Calibri" pitchFamily="34" charset="0"/>
                <a:ea typeface="Calibri" pitchFamily="34" charset="-122"/>
                <a:cs typeface="Calibri" pitchFamily="34" charset="-120"/>
              </a:rPr>
              <a:t>GT gradient energy</a:t>
            </a:r>
            <a:endParaRPr lang="en-US" sz="1050" dirty="0"/>
          </a:p>
        </p:txBody>
      </p:sp>
      <p:sp>
        <p:nvSpPr>
          <p:cNvPr id="16" name="Text 13"/>
          <p:cNvSpPr txBox="1"/>
          <p:nvPr/>
        </p:nvSpPr>
        <p:spPr>
          <a:xfrm>
            <a:off x="10241280" y="2395728"/>
            <a:ext cx="1097280" cy="256032"/>
          </a:xfrm>
          <a:prstGeom prst="rect">
            <a:avLst/>
          </a:prstGeom>
          <a:noFill/>
          <a:ln/>
        </p:spPr>
        <p:txBody>
          <a:bodyPr wrap="square" lIns="0" tIns="0" rIns="0" bIns="0" rtlCol="0" anchor="t"/>
          <a:lstStyle/>
          <a:p>
            <a:pPr algn="r" indent="0" marL="0">
              <a:lnSpc>
                <a:spcPct val="118000"/>
              </a:lnSpc>
              <a:buNone/>
            </a:pPr>
            <a:r>
              <a:rPr lang="en-US" sz="1050" b="1" dirty="0">
                <a:solidFill>
                  <a:srgbClr val="C2703B"/>
                </a:solidFill>
                <a:latin typeface="Calibri" pitchFamily="34" charset="0"/>
                <a:ea typeface="Calibri" pitchFamily="34" charset="-122"/>
                <a:cs typeface="Calibri" pitchFamily="34" charset="-120"/>
              </a:rPr>
              <a:t>−0.743</a:t>
            </a:r>
            <a:endParaRPr lang="en-US" sz="1050" dirty="0"/>
          </a:p>
        </p:txBody>
      </p:sp>
      <p:sp>
        <p:nvSpPr>
          <p:cNvPr id="17" name="Text 14"/>
          <p:cNvSpPr txBox="1"/>
          <p:nvPr/>
        </p:nvSpPr>
        <p:spPr>
          <a:xfrm>
            <a:off x="7909560" y="2706624"/>
            <a:ext cx="2286000" cy="256032"/>
          </a:xfrm>
          <a:prstGeom prst="rect">
            <a:avLst/>
          </a:prstGeom>
          <a:noFill/>
          <a:ln/>
        </p:spPr>
        <p:txBody>
          <a:bodyPr wrap="square" lIns="0" tIns="0" rIns="0" bIns="0" rtlCol="0" anchor="t"/>
          <a:lstStyle/>
          <a:p>
            <a:pPr algn="l" indent="0" marL="0">
              <a:lnSpc>
                <a:spcPct val="118000"/>
              </a:lnSpc>
              <a:buNone/>
            </a:pPr>
            <a:r>
              <a:rPr lang="en-US" sz="1050" b="1" dirty="0">
                <a:solidFill>
                  <a:srgbClr val="23282E"/>
                </a:solidFill>
                <a:latin typeface="Calibri" pitchFamily="34" charset="0"/>
                <a:ea typeface="Calibri" pitchFamily="34" charset="-122"/>
                <a:cs typeface="Calibri" pitchFamily="34" charset="-120"/>
              </a:rPr>
              <a:t>GT f90 (detail scale)</a:t>
            </a:r>
            <a:endParaRPr lang="en-US" sz="1050" dirty="0"/>
          </a:p>
        </p:txBody>
      </p:sp>
      <p:sp>
        <p:nvSpPr>
          <p:cNvPr id="18" name="Text 15"/>
          <p:cNvSpPr txBox="1"/>
          <p:nvPr/>
        </p:nvSpPr>
        <p:spPr>
          <a:xfrm>
            <a:off x="10241280" y="2706624"/>
            <a:ext cx="1097280" cy="256032"/>
          </a:xfrm>
          <a:prstGeom prst="rect">
            <a:avLst/>
          </a:prstGeom>
          <a:noFill/>
          <a:ln/>
        </p:spPr>
        <p:txBody>
          <a:bodyPr wrap="square" lIns="0" tIns="0" rIns="0" bIns="0" rtlCol="0" anchor="t"/>
          <a:lstStyle/>
          <a:p>
            <a:pPr algn="r" indent="0" marL="0">
              <a:lnSpc>
                <a:spcPct val="118000"/>
              </a:lnSpc>
              <a:buNone/>
            </a:pPr>
            <a:r>
              <a:rPr lang="en-US" sz="1050" b="1" dirty="0">
                <a:solidFill>
                  <a:srgbClr val="C2703B"/>
                </a:solidFill>
                <a:latin typeface="Calibri" pitchFamily="34" charset="0"/>
                <a:ea typeface="Calibri" pitchFamily="34" charset="-122"/>
                <a:cs typeface="Calibri" pitchFamily="34" charset="-120"/>
              </a:rPr>
              <a:t>−0.631</a:t>
            </a:r>
            <a:endParaRPr lang="en-US" sz="1050" dirty="0"/>
          </a:p>
        </p:txBody>
      </p:sp>
      <p:sp>
        <p:nvSpPr>
          <p:cNvPr id="19" name="Text 16"/>
          <p:cNvSpPr txBox="1"/>
          <p:nvPr/>
        </p:nvSpPr>
        <p:spPr>
          <a:xfrm>
            <a:off x="7909560" y="3017520"/>
            <a:ext cx="2286000" cy="256032"/>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edge density</a:t>
            </a:r>
            <a:endParaRPr lang="en-US" sz="1050" dirty="0"/>
          </a:p>
        </p:txBody>
      </p:sp>
      <p:sp>
        <p:nvSpPr>
          <p:cNvPr id="20" name="Text 17"/>
          <p:cNvSpPr txBox="1"/>
          <p:nvPr/>
        </p:nvSpPr>
        <p:spPr>
          <a:xfrm>
            <a:off x="10241280" y="3017520"/>
            <a:ext cx="1097280" cy="256032"/>
          </a:xfrm>
          <a:prstGeom prst="rect">
            <a:avLst/>
          </a:prstGeom>
          <a:noFill/>
          <a:ln/>
        </p:spPr>
        <p:txBody>
          <a:bodyPr wrap="square" lIns="0" tIns="0" rIns="0" bIns="0" rtlCol="0" anchor="t"/>
          <a:lstStyle/>
          <a:p>
            <a:pPr algn="r" indent="0" marL="0">
              <a:lnSpc>
                <a:spcPct val="118000"/>
              </a:lnSpc>
              <a:buNone/>
            </a:pPr>
            <a:r>
              <a:rPr lang="en-US" sz="1050" dirty="0">
                <a:solidFill>
                  <a:srgbClr val="4A5560"/>
                </a:solidFill>
                <a:latin typeface="Calibri" pitchFamily="34" charset="0"/>
                <a:ea typeface="Calibri" pitchFamily="34" charset="-122"/>
                <a:cs typeface="Calibri" pitchFamily="34" charset="-120"/>
              </a:rPr>
              <a:t>+0.123</a:t>
            </a:r>
            <a:endParaRPr lang="en-US" sz="1050" dirty="0"/>
          </a:p>
        </p:txBody>
      </p:sp>
      <p:sp>
        <p:nvSpPr>
          <p:cNvPr id="21" name="Text 18"/>
          <p:cNvSpPr txBox="1"/>
          <p:nvPr/>
        </p:nvSpPr>
        <p:spPr>
          <a:xfrm>
            <a:off x="7909560" y="3328416"/>
            <a:ext cx="2286000" cy="256032"/>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input noise level</a:t>
            </a:r>
            <a:endParaRPr lang="en-US" sz="1050" dirty="0"/>
          </a:p>
        </p:txBody>
      </p:sp>
      <p:sp>
        <p:nvSpPr>
          <p:cNvPr id="22" name="Text 19"/>
          <p:cNvSpPr txBox="1"/>
          <p:nvPr/>
        </p:nvSpPr>
        <p:spPr>
          <a:xfrm>
            <a:off x="10241280" y="3328416"/>
            <a:ext cx="1097280" cy="256032"/>
          </a:xfrm>
          <a:prstGeom prst="rect">
            <a:avLst/>
          </a:prstGeom>
          <a:noFill/>
          <a:ln/>
        </p:spPr>
        <p:txBody>
          <a:bodyPr wrap="square" lIns="0" tIns="0" rIns="0" bIns="0" rtlCol="0" anchor="t"/>
          <a:lstStyle/>
          <a:p>
            <a:pPr algn="r" indent="0" marL="0">
              <a:lnSpc>
                <a:spcPct val="118000"/>
              </a:lnSpc>
              <a:buNone/>
            </a:pPr>
            <a:r>
              <a:rPr lang="en-US" sz="1050" dirty="0">
                <a:solidFill>
                  <a:srgbClr val="4A5560"/>
                </a:solidFill>
                <a:latin typeface="Calibri" pitchFamily="34" charset="0"/>
                <a:ea typeface="Calibri" pitchFamily="34" charset="-122"/>
                <a:cs typeface="Calibri" pitchFamily="34" charset="-120"/>
              </a:rPr>
              <a:t>+0.066</a:t>
            </a:r>
            <a:endParaRPr lang="en-US" sz="1050" dirty="0"/>
          </a:p>
        </p:txBody>
      </p:sp>
      <p:sp>
        <p:nvSpPr>
          <p:cNvPr id="23" name="Text 20"/>
          <p:cNvSpPr txBox="1"/>
          <p:nvPr/>
        </p:nvSpPr>
        <p:spPr>
          <a:xfrm>
            <a:off x="7909560" y="3639312"/>
            <a:ext cx="2286000" cy="256032"/>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image mean</a:t>
            </a:r>
            <a:endParaRPr lang="en-US" sz="1050" dirty="0"/>
          </a:p>
        </p:txBody>
      </p:sp>
      <p:sp>
        <p:nvSpPr>
          <p:cNvPr id="24" name="Text 21"/>
          <p:cNvSpPr txBox="1"/>
          <p:nvPr/>
        </p:nvSpPr>
        <p:spPr>
          <a:xfrm>
            <a:off x="10241280" y="3639312"/>
            <a:ext cx="1097280" cy="256032"/>
          </a:xfrm>
          <a:prstGeom prst="rect">
            <a:avLst/>
          </a:prstGeom>
          <a:noFill/>
          <a:ln/>
        </p:spPr>
        <p:txBody>
          <a:bodyPr wrap="square" lIns="0" tIns="0" rIns="0" bIns="0" rtlCol="0" anchor="t"/>
          <a:lstStyle/>
          <a:p>
            <a:pPr algn="r" indent="0" marL="0">
              <a:lnSpc>
                <a:spcPct val="118000"/>
              </a:lnSpc>
              <a:buNone/>
            </a:pPr>
            <a:r>
              <a:rPr lang="en-US" sz="1050" dirty="0">
                <a:solidFill>
                  <a:srgbClr val="4A5560"/>
                </a:solidFill>
                <a:latin typeface="Calibri" pitchFamily="34" charset="0"/>
                <a:ea typeface="Calibri" pitchFamily="34" charset="-122"/>
                <a:cs typeface="Calibri" pitchFamily="34" charset="-120"/>
              </a:rPr>
              <a:t>+0.249</a:t>
            </a:r>
            <a:endParaRPr lang="en-US" sz="1050" dirty="0"/>
          </a:p>
        </p:txBody>
      </p:sp>
      <p:sp>
        <p:nvSpPr>
          <p:cNvPr id="25" name="Text 22"/>
          <p:cNvSpPr txBox="1"/>
          <p:nvPr/>
        </p:nvSpPr>
        <p:spPr>
          <a:xfrm>
            <a:off x="7909560" y="4114800"/>
            <a:ext cx="3474720" cy="1737360"/>
          </a:xfrm>
          <a:prstGeom prst="rect">
            <a:avLst/>
          </a:prstGeom>
          <a:noFill/>
          <a:ln/>
        </p:spPr>
        <p:txBody>
          <a:bodyPr wrap="square" lIns="0" tIns="0" rIns="0" bIns="0" rtlCol="0" anchor="t"/>
          <a:lstStyle/>
          <a:p>
            <a:pPr algn="l" indent="0" marL="0">
              <a:lnSpc>
                <a:spcPct val="118000"/>
              </a:lnSpc>
              <a:buNone/>
            </a:pPr>
            <a:r>
              <a:rPr lang="en-US" sz="1000" dirty="0">
                <a:solidFill>
                  <a:srgbClr val="4A5560"/>
                </a:solidFill>
                <a:latin typeface="Calibri" pitchFamily="34" charset="0"/>
                <a:ea typeface="Calibri" pitchFamily="34" charset="-122"/>
                <a:cs typeface="Calibri" pitchFamily="34" charset="-120"/>
              </a:rPr>
              <a:t>The two strongest predictors are both properties of the ground truth, not of the degradation. How hard an image is to restore is decided by how much fine structure it contains — not by how noisy we made it.</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4A5560"/>
                </a:solidFill>
                <a:latin typeface="Calibri" pitchFamily="34" charset="0"/>
                <a:ea typeface="Calibri" pitchFamily="34" charset="-122"/>
                <a:cs typeface="Calibri" pitchFamily="34" charset="-120"/>
              </a:rPr>
              <a:t>So capacity spent on denoising was capacity spent in the wrong place. That is what sent us to the architecture search.</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The Architecture Search</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Seven variants at a matched parameter budget, one variable moving. The gated block wins PSNR and SSIM outright; we report the one metric it loses.</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2011680"/>
                <a:gridCol w="1143000"/>
                <a:gridCol w="960120"/>
                <a:gridCol w="1005840"/>
                <a:gridCol w="1005840"/>
                <a:gridCol w="822960"/>
              </a:tblGrid>
              <a:tr h="274320">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run</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params</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PSNR</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SSIM</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LPIPS</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gain</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forgex  (Round 2 shipped)</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1,368,705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23.632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0.60792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0.19287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+3.177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e1a_base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1,368,705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23.6778</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0.59380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0.21297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+3.222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e1g_grad20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1,368,705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23.6901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0.59664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0.21319</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+3.235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e1h_nafdeep</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1,434,682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23.6992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0.61612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0.16980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+3.244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e1b_se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1,377,985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23.7131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0.60091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0.20708</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+3.258</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e1c_mdta1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1,348,921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23.7154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0.60590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0.19950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+3.260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e1f_gate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1,346,360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23.8296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0.62104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0.18126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+3.374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bl>
          </a:graphicData>
        </a:graphic>
      </p:graphicFrame>
      <p:sp>
        <p:nvSpPr>
          <p:cNvPr id="5" name="Text 2"/>
          <p:cNvSpPr txBox="1"/>
          <p:nvPr/>
        </p:nvSpPr>
        <p:spPr>
          <a:xfrm>
            <a:off x="548640" y="3977640"/>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kla2/results/final.csv  ·  all eight scored by the same code, same inputs, same GPU, fp16, batch 32.</a:t>
            </a:r>
            <a:endParaRPr lang="en-US" sz="950" dirty="0"/>
          </a:p>
        </p:txBody>
      </p:sp>
      <p:sp>
        <p:nvSpPr>
          <p:cNvPr id="6" name="Shape 3"/>
          <p:cNvSpPr/>
          <p:nvPr/>
        </p:nvSpPr>
        <p:spPr>
          <a:xfrm>
            <a:off x="548640" y="4315968"/>
            <a:ext cx="6949440" cy="1737360"/>
          </a:xfrm>
          <a:prstGeom prst="roundRect">
            <a:avLst>
              <a:gd name="adj" fmla="val 2105"/>
            </a:avLst>
          </a:prstGeom>
          <a:solidFill>
            <a:srgbClr val="ECEFF2"/>
          </a:solidFill>
          <a:ln w="9525">
            <a:solidFill>
              <a:srgbClr val="DDE2E7"/>
            </a:solidFill>
            <a:prstDash val="solid"/>
          </a:ln>
        </p:spPr>
      </p:sp>
      <p:sp>
        <p:nvSpPr>
          <p:cNvPr id="7" name="Text 4"/>
          <p:cNvSpPr txBox="1"/>
          <p:nvPr/>
        </p:nvSpPr>
        <p:spPr>
          <a:xfrm>
            <a:off x="822960" y="4498848"/>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ONE VARIABLE, ENFORCED MECHANICALLY</a:t>
            </a:r>
            <a:endParaRPr lang="en-US" sz="950" dirty="0"/>
          </a:p>
        </p:txBody>
      </p:sp>
      <p:sp>
        <p:nvSpPr>
          <p:cNvPr id="8" name="Text 5"/>
          <p:cNvSpPr txBox="1"/>
          <p:nvPr/>
        </p:nvSpPr>
        <p:spPr>
          <a:xfrm>
            <a:off x="822960" y="4773168"/>
            <a:ext cx="6400800" cy="118872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tools/train_arch.py imports the training script and rebinds one name — train.Restorer — then hands control back. src/train.py is never edited and never forked, so the data, degradation engine, split, loss, optimiser, schedule, seed and epoch count are byte-identical across every row. Each variant's width is chosen to land within a couple of percent of 1,368,705 parameters, so this is a matched-budget comparison rather than a matched-hyperparameter one.</a:t>
            </a:r>
            <a:endParaRPr lang="en-US" sz="1050" dirty="0"/>
          </a:p>
        </p:txBody>
      </p:sp>
      <p:sp>
        <p:nvSpPr>
          <p:cNvPr id="9" name="Shape 6"/>
          <p:cNvSpPr/>
          <p:nvPr/>
        </p:nvSpPr>
        <p:spPr>
          <a:xfrm>
            <a:off x="7635240" y="1417320"/>
            <a:ext cx="3977640" cy="2194560"/>
          </a:xfrm>
          <a:prstGeom prst="roundRect">
            <a:avLst>
              <a:gd name="adj" fmla="val 1667"/>
            </a:avLst>
          </a:prstGeom>
          <a:solidFill>
            <a:srgbClr val="FFFFFF"/>
          </a:solidFill>
          <a:ln w="9525">
            <a:solidFill>
              <a:srgbClr val="DDE2E7"/>
            </a:solidFill>
            <a:prstDash val="solid"/>
          </a:ln>
        </p:spPr>
      </p:sp>
      <p:sp>
        <p:nvSpPr>
          <p:cNvPr id="10" name="Text 7"/>
          <p:cNvSpPr txBox="1"/>
          <p:nvPr/>
        </p:nvSpPr>
        <p:spPr>
          <a:xfrm>
            <a:off x="7909560" y="161848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WHAT THE WINNING BLOCK IS</a:t>
            </a:r>
            <a:endParaRPr lang="en-US" sz="950" dirty="0"/>
          </a:p>
        </p:txBody>
      </p:sp>
      <p:sp>
        <p:nvSpPr>
          <p:cNvPr id="11" name="Text 8"/>
          <p:cNvSpPr txBox="1"/>
          <p:nvPr/>
        </p:nvSpPr>
        <p:spPr>
          <a:xfrm>
            <a:off x="7909560" y="1901952"/>
            <a:ext cx="3474720" cy="160020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The EDSR trunk, with each residual block replaced by NAFNet's SimpleGate — split the channels in two and multiply them — preceded by per-pixel LayerNorm.</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The gate is a multiplicative nonlinearity, so a block can suppress or amplify a feature rather than only rectifying it.</a:t>
            </a:r>
            <a:endParaRPr lang="en-US" sz="1000" dirty="0"/>
          </a:p>
        </p:txBody>
      </p:sp>
      <p:sp>
        <p:nvSpPr>
          <p:cNvPr id="12" name="Shape 9"/>
          <p:cNvSpPr/>
          <p:nvPr/>
        </p:nvSpPr>
        <p:spPr>
          <a:xfrm>
            <a:off x="7635240" y="3749040"/>
            <a:ext cx="3977640" cy="2286000"/>
          </a:xfrm>
          <a:prstGeom prst="roundRect">
            <a:avLst>
              <a:gd name="adj" fmla="val 1600"/>
            </a:avLst>
          </a:prstGeom>
          <a:solidFill>
            <a:srgbClr val="FBF2EC"/>
          </a:solidFill>
          <a:ln w="9525">
            <a:solidFill>
              <a:srgbClr val="E3A574"/>
            </a:solidFill>
            <a:prstDash val="solid"/>
          </a:ln>
        </p:spPr>
      </p:sp>
      <p:sp>
        <p:nvSpPr>
          <p:cNvPr id="13" name="Text 10"/>
          <p:cNvSpPr txBox="1"/>
          <p:nvPr/>
        </p:nvSpPr>
        <p:spPr>
          <a:xfrm>
            <a:off x="7909560" y="395020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THE METRIC IT LOSES</a:t>
            </a:r>
            <a:endParaRPr lang="en-US" sz="950" dirty="0"/>
          </a:p>
        </p:txBody>
      </p:sp>
      <p:sp>
        <p:nvSpPr>
          <p:cNvPr id="14" name="Text 11"/>
          <p:cNvSpPr txBox="1"/>
          <p:nvPr/>
        </p:nvSpPr>
        <p:spPr>
          <a:xfrm>
            <a:off x="7909560" y="4233672"/>
            <a:ext cx="3474720" cy="169164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e1h_nafdeep has the best LPIPS of anything we trained — 0.1698 against the gate's 0.1813.</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We did not ship it: it is behind on both PSNR (23.6992) and SSIM (0.61612), and PSNR is the headline metric. That is a judgement, not a measurement, and it is the one we would revisit first.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More Data, or a Better Architecture?</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We were given 25% more training data at the finale. We measured what it was worth before spending the weekend on it.</a:t>
            </a:r>
            <a:endParaRPr lang="en-US" sz="1150" dirty="0"/>
          </a:p>
        </p:txBody>
      </p:sp>
      <p:sp>
        <p:nvSpPr>
          <p:cNvPr id="4" name="Shape 2"/>
          <p:cNvSpPr/>
          <p:nvPr/>
        </p:nvSpPr>
        <p:spPr>
          <a:xfrm>
            <a:off x="548640" y="1463040"/>
            <a:ext cx="5394960" cy="2286000"/>
          </a:xfrm>
          <a:prstGeom prst="roundRect">
            <a:avLst>
              <a:gd name="adj" fmla="val 1600"/>
            </a:avLst>
          </a:prstGeom>
          <a:solidFill>
            <a:srgbClr val="FFFFFF"/>
          </a:solidFill>
          <a:ln w="9525">
            <a:solidFill>
              <a:srgbClr val="DDE2E7"/>
            </a:solidFill>
            <a:prstDash val="solid"/>
          </a:ln>
        </p:spPr>
      </p:sp>
      <p:sp>
        <p:nvSpPr>
          <p:cNvPr id="5" name="Text 3"/>
          <p:cNvSpPr txBox="1"/>
          <p:nvPr/>
        </p:nvSpPr>
        <p:spPr>
          <a:xfrm>
            <a:off x="822960" y="1664208"/>
            <a:ext cx="48463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SAME ARCHITECTURE, 25% MORE DATA</a:t>
            </a:r>
            <a:endParaRPr lang="en-US" sz="950" dirty="0"/>
          </a:p>
        </p:txBody>
      </p:sp>
      <p:sp>
        <p:nvSpPr>
          <p:cNvPr id="6" name="Text 4"/>
          <p:cNvSpPr txBox="1"/>
          <p:nvPr/>
        </p:nvSpPr>
        <p:spPr>
          <a:xfrm>
            <a:off x="822960" y="1965960"/>
            <a:ext cx="4846320" cy="502920"/>
          </a:xfrm>
          <a:prstGeom prst="rect">
            <a:avLst/>
          </a:prstGeom>
          <a:noFill/>
          <a:ln/>
        </p:spPr>
        <p:txBody>
          <a:bodyPr wrap="square" lIns="0" tIns="0" rIns="0" bIns="0" rtlCol="0" anchor="ctr"/>
          <a:lstStyle/>
          <a:p>
            <a:pPr indent="0" marL="0">
              <a:buNone/>
            </a:pPr>
            <a:r>
              <a:rPr lang="en-US" sz="2600" b="1" dirty="0">
                <a:solidFill>
                  <a:srgbClr val="C2703B"/>
                </a:solidFill>
                <a:latin typeface="Cambria" pitchFamily="34" charset="0"/>
                <a:ea typeface="Cambria" pitchFamily="34" charset="-122"/>
                <a:cs typeface="Cambria" pitchFamily="34" charset="-120"/>
              </a:rPr>
              <a:t>+0.066 dB</a:t>
            </a:r>
            <a:endParaRPr lang="en-US" sz="2600" dirty="0"/>
          </a:p>
        </p:txBody>
      </p:sp>
      <p:sp>
        <p:nvSpPr>
          <p:cNvPr id="7" name="Text 5"/>
          <p:cNvSpPr txBox="1"/>
          <p:nvPr/>
        </p:nvSpPr>
        <p:spPr>
          <a:xfrm>
            <a:off x="822960" y="2468880"/>
            <a:ext cx="484632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forgex on 4,785 images → 23.632.   forgex on all 5,982 → 23.6977.</a:t>
            </a:r>
            <a:endParaRPr lang="en-US" sz="950" dirty="0"/>
          </a:p>
        </p:txBody>
      </p:sp>
      <p:sp>
        <p:nvSpPr>
          <p:cNvPr id="8" name="Text 6"/>
          <p:cNvSpPr txBox="1"/>
          <p:nvPr/>
        </p:nvSpPr>
        <p:spPr>
          <a:xfrm>
            <a:off x="822960" y="2880360"/>
            <a:ext cx="4846320" cy="731520"/>
          </a:xfrm>
          <a:prstGeom prst="rect">
            <a:avLst/>
          </a:prstGeom>
          <a:noFill/>
          <a:ln/>
        </p:spPr>
        <p:txBody>
          <a:bodyPr wrap="square" lIns="0" tIns="0" rIns="0" bIns="0" rtlCol="0" anchor="t"/>
          <a:lstStyle/>
          <a:p>
            <a:pPr algn="l" indent="0" marL="0">
              <a:lnSpc>
                <a:spcPct val="118000"/>
              </a:lnSpc>
              <a:buNone/>
            </a:pPr>
            <a:r>
              <a:rPr lang="en-US" sz="1000" dirty="0">
                <a:solidFill>
                  <a:srgbClr val="4A5560"/>
                </a:solidFill>
                <a:latin typeface="Calibri" pitchFamily="34" charset="0"/>
                <a:ea typeface="Calibri" pitchFamily="34" charset="-122"/>
                <a:cs typeface="Calibri" pitchFamily="34" charset="-120"/>
              </a:rPr>
              <a:t>1,197 additional real pairs, a full 120-epoch run, identical everything else.</a:t>
            </a:r>
            <a:endParaRPr lang="en-US" sz="1000" dirty="0"/>
          </a:p>
        </p:txBody>
      </p:sp>
      <p:sp>
        <p:nvSpPr>
          <p:cNvPr id="9" name="Shape 7"/>
          <p:cNvSpPr/>
          <p:nvPr/>
        </p:nvSpPr>
        <p:spPr>
          <a:xfrm>
            <a:off x="6217920" y="1463040"/>
            <a:ext cx="5394960" cy="2286000"/>
          </a:xfrm>
          <a:prstGeom prst="roundRect">
            <a:avLst>
              <a:gd name="adj" fmla="val 1600"/>
            </a:avLst>
          </a:prstGeom>
          <a:solidFill>
            <a:srgbClr val="FBF2EC"/>
          </a:solidFill>
          <a:ln w="9525">
            <a:solidFill>
              <a:srgbClr val="E3A574"/>
            </a:solidFill>
            <a:prstDash val="solid"/>
          </a:ln>
        </p:spPr>
      </p:sp>
      <p:sp>
        <p:nvSpPr>
          <p:cNvPr id="10" name="Text 8"/>
          <p:cNvSpPr txBox="1"/>
          <p:nvPr/>
        </p:nvSpPr>
        <p:spPr>
          <a:xfrm>
            <a:off x="6492240" y="1664208"/>
            <a:ext cx="48463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SAME DATA, A DIFFERENT BLOCK</a:t>
            </a:r>
            <a:endParaRPr lang="en-US" sz="950" dirty="0"/>
          </a:p>
        </p:txBody>
      </p:sp>
      <p:sp>
        <p:nvSpPr>
          <p:cNvPr id="11" name="Text 9"/>
          <p:cNvSpPr txBox="1"/>
          <p:nvPr/>
        </p:nvSpPr>
        <p:spPr>
          <a:xfrm>
            <a:off x="6492240" y="1965960"/>
            <a:ext cx="4846320" cy="502920"/>
          </a:xfrm>
          <a:prstGeom prst="rect">
            <a:avLst/>
          </a:prstGeom>
          <a:noFill/>
          <a:ln/>
        </p:spPr>
        <p:txBody>
          <a:bodyPr wrap="square" lIns="0" tIns="0" rIns="0" bIns="0" rtlCol="0" anchor="ctr"/>
          <a:lstStyle/>
          <a:p>
            <a:pPr indent="0" marL="0">
              <a:buNone/>
            </a:pPr>
            <a:r>
              <a:rPr lang="en-US" sz="2600" b="1" dirty="0">
                <a:solidFill>
                  <a:srgbClr val="C2703B"/>
                </a:solidFill>
                <a:latin typeface="Cambria" pitchFamily="34" charset="0"/>
                <a:ea typeface="Cambria" pitchFamily="34" charset="-122"/>
                <a:cs typeface="Cambria" pitchFamily="34" charset="-120"/>
              </a:rPr>
              <a:t>+0.198 dB</a:t>
            </a:r>
            <a:endParaRPr lang="en-US" sz="2600" dirty="0"/>
          </a:p>
        </p:txBody>
      </p:sp>
      <p:sp>
        <p:nvSpPr>
          <p:cNvPr id="12" name="Text 10"/>
          <p:cNvSpPr txBox="1"/>
          <p:nvPr/>
        </p:nvSpPr>
        <p:spPr>
          <a:xfrm>
            <a:off x="6492240" y="2468880"/>
            <a:ext cx="484632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forgex → 23.632.   e1f_gate on the same corpus → 23.8296.</a:t>
            </a:r>
            <a:endParaRPr lang="en-US" sz="950" dirty="0"/>
          </a:p>
        </p:txBody>
      </p:sp>
      <p:sp>
        <p:nvSpPr>
          <p:cNvPr id="13" name="Text 11"/>
          <p:cNvSpPr txBox="1"/>
          <p:nvPr/>
        </p:nvSpPr>
        <p:spPr>
          <a:xfrm>
            <a:off x="6492240" y="2880360"/>
            <a:ext cx="4846320" cy="731520"/>
          </a:xfrm>
          <a:prstGeom prst="rect">
            <a:avLst/>
          </a:prstGeom>
          <a:noFill/>
          <a:ln/>
        </p:spPr>
        <p:txBody>
          <a:bodyPr wrap="square" lIns="0" tIns="0" rIns="0" bIns="0" rtlCol="0" anchor="t"/>
          <a:lstStyle/>
          <a:p>
            <a:pPr algn="l" indent="0" marL="0">
              <a:lnSpc>
                <a:spcPct val="118000"/>
              </a:lnSpc>
              <a:buNone/>
            </a:pPr>
            <a:r>
              <a:rPr lang="en-US" sz="1000" dirty="0">
                <a:solidFill>
                  <a:srgbClr val="4A5560"/>
                </a:solidFill>
                <a:latin typeface="Calibri" pitchFamily="34" charset="0"/>
                <a:ea typeface="Calibri" pitchFamily="34" charset="-122"/>
                <a:cs typeface="Calibri" pitchFamily="34" charset="-120"/>
              </a:rPr>
              <a:t>And with 22,345 fewer parameters. Three times the gain, for less model.</a:t>
            </a:r>
            <a:endParaRPr lang="en-US" sz="1000" dirty="0"/>
          </a:p>
        </p:txBody>
      </p:sp>
      <p:sp>
        <p:nvSpPr>
          <p:cNvPr id="14" name="Shape 12"/>
          <p:cNvSpPr/>
          <p:nvPr/>
        </p:nvSpPr>
        <p:spPr>
          <a:xfrm>
            <a:off x="548640" y="3931920"/>
            <a:ext cx="11064240" cy="2103120"/>
          </a:xfrm>
          <a:prstGeom prst="roundRect">
            <a:avLst>
              <a:gd name="adj" fmla="val 1739"/>
            </a:avLst>
          </a:prstGeom>
          <a:solidFill>
            <a:srgbClr val="ECEFF2"/>
          </a:solidFill>
          <a:ln w="9525">
            <a:solidFill>
              <a:srgbClr val="DDE2E7"/>
            </a:solidFill>
            <a:prstDash val="solid"/>
          </a:ln>
        </p:spPr>
      </p:sp>
      <p:sp>
        <p:nvSpPr>
          <p:cNvPr id="15" name="Text 13"/>
          <p:cNvSpPr txBox="1"/>
          <p:nvPr/>
        </p:nvSpPr>
        <p:spPr>
          <a:xfrm>
            <a:off x="868680" y="4133088"/>
            <a:ext cx="1042416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THE DECISION THIS PRODUCED, STATED BEFORE WE ACTED ON IT</a:t>
            </a:r>
            <a:endParaRPr lang="en-US" sz="950" dirty="0"/>
          </a:p>
        </p:txBody>
      </p:sp>
      <p:sp>
        <p:nvSpPr>
          <p:cNvPr id="16" name="Text 14"/>
          <p:cNvSpPr txBox="1"/>
          <p:nvPr/>
        </p:nvSpPr>
        <p:spPr>
          <a:xfrm>
            <a:off x="868680" y="4443984"/>
            <a:ext cx="10424160" cy="1463040"/>
          </a:xfrm>
          <a:prstGeom prst="rect">
            <a:avLst/>
          </a:prstGeom>
          <a:noFill/>
          <a:ln/>
        </p:spPr>
        <p:txBody>
          <a:bodyPr wrap="square" lIns="0" tIns="0" rIns="0" bIns="0" rtlCol="0" anchor="t"/>
          <a:lstStyle/>
          <a:p>
            <a:pPr algn="l" indent="0" marL="0">
              <a:lnSpc>
                <a:spcPct val="120000"/>
              </a:lnSpc>
              <a:buNone/>
            </a:pPr>
            <a:r>
              <a:rPr lang="en-US" sz="1050" dirty="0">
                <a:solidFill>
                  <a:srgbClr val="23282E"/>
                </a:solidFill>
                <a:latin typeface="Calibri" pitchFamily="34" charset="0"/>
                <a:ea typeface="Calibri" pitchFamily="34" charset="-122"/>
                <a:cs typeface="Calibri" pitchFamily="34" charset="-120"/>
              </a:rPr>
              <a:t>Retraining the gate on all 5,982 images would have cost a 1.9 GB upload and several hours, and would have invalidated every artefact keyed to the current checkpoint's hash — five compiled engines, the knob datasheet, the swap entry, the verification hash and the 297 scores — all of which would have needed regenerating and re-verifying with no time left to check them.</a:t>
            </a:r>
            <a:endParaRPr lang="en-US" sz="1050" dirty="0"/>
          </a:p>
          <a:p>
            <a:pPr algn="l" indent="0" marL="0">
              <a:lnSpc>
                <a:spcPct val="120000"/>
              </a:lnSpc>
              <a:buNone/>
            </a:pPr>
            <a:endParaRPr lang="en-US" sz="1050" dirty="0"/>
          </a:p>
          <a:p>
            <a:pPr algn="l" indent="0" marL="0">
              <a:lnSpc>
                <a:spcPct val="120000"/>
              </a:lnSpc>
              <a:buNone/>
            </a:pPr>
            <a:r>
              <a:rPr lang="en-US" sz="1050" dirty="0">
                <a:solidFill>
                  <a:srgbClr val="23282E"/>
                </a:solidFill>
                <a:latin typeface="Calibri" pitchFamily="34" charset="0"/>
                <a:ea typeface="Calibri" pitchFamily="34" charset="-122"/>
                <a:cs typeface="Calibri" pitchFamily="34" charset="-120"/>
              </a:rPr>
              <a:t>The measured value of that work is +0.066 dB. We did not do it, and we are saying so rather than presenting the finale dataset as fully exploited. The merged corpus is in the repository and the training command is one line; it is the first thing we would run with another day.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Results, Paired Image by Image</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Not a difference of two averages. Every one of the 297 images is restored by both models and the difference is taken per image, so the test has 297 paired samples rather than two numbers.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2560320"/>
                <a:gridCol w="1371600"/>
                <a:gridCol w="1280160"/>
                <a:gridCol w="1463040"/>
              </a:tblGrid>
              <a:tr h="310896">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e1f_gate − e1a_base, n = 297</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mean</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t</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wins</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r>
              <a:tr h="310896">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PSNR (dB)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+0.15181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+10.34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240 / 297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310896">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SSIM</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+0.02724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+15.45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297 / 297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310896">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LPIPS (lower better)</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−0.03171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+13.95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256 / 297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bl>
          </a:graphicData>
        </a:graphic>
      </p:graphicFrame>
      <p:sp>
        <p:nvSpPr>
          <p:cNvPr id="5" name="Text 2"/>
          <p:cNvSpPr txBox="1"/>
          <p:nvPr/>
        </p:nvSpPr>
        <p:spPr>
          <a:xfrm>
            <a:off x="548640" y="2926080"/>
            <a:ext cx="667512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kla2/results/per_image_297_paired.csv — every per-image value is in the repository.</a:t>
            </a:r>
            <a:endParaRPr lang="en-US" sz="950" dirty="0"/>
          </a:p>
        </p:txBody>
      </p:sp>
      <p:sp>
        <p:nvSpPr>
          <p:cNvPr id="6" name="Shape 3"/>
          <p:cNvSpPr/>
          <p:nvPr/>
        </p:nvSpPr>
        <p:spPr>
          <a:xfrm>
            <a:off x="548640" y="3291840"/>
            <a:ext cx="3246120" cy="1371600"/>
          </a:xfrm>
          <a:prstGeom prst="roundRect">
            <a:avLst>
              <a:gd name="adj" fmla="val 2667"/>
            </a:avLst>
          </a:prstGeom>
          <a:solidFill>
            <a:srgbClr val="ECEFF2"/>
          </a:solidFill>
          <a:ln w="9525">
            <a:solidFill>
              <a:srgbClr val="DDE2E7"/>
            </a:solidFill>
            <a:prstDash val="solid"/>
          </a:ln>
        </p:spPr>
      </p:sp>
      <p:sp>
        <p:nvSpPr>
          <p:cNvPr id="7" name="Text 4"/>
          <p:cNvSpPr txBox="1"/>
          <p:nvPr/>
        </p:nvSpPr>
        <p:spPr>
          <a:xfrm>
            <a:off x="777240" y="3474720"/>
            <a:ext cx="27889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NEVER WORSE THAN THE BASELINE</a:t>
            </a:r>
            <a:endParaRPr lang="en-US" sz="950" dirty="0"/>
          </a:p>
        </p:txBody>
      </p:sp>
      <p:sp>
        <p:nvSpPr>
          <p:cNvPr id="8" name="Text 5"/>
          <p:cNvSpPr txBox="1"/>
          <p:nvPr/>
        </p:nvSpPr>
        <p:spPr>
          <a:xfrm>
            <a:off x="777240" y="3749040"/>
            <a:ext cx="2788920" cy="502920"/>
          </a:xfrm>
          <a:prstGeom prst="rect">
            <a:avLst/>
          </a:prstGeom>
          <a:noFill/>
          <a:ln/>
        </p:spPr>
        <p:txBody>
          <a:bodyPr wrap="square" lIns="0" tIns="0" rIns="0" bIns="0" rtlCol="0" anchor="ctr"/>
          <a:lstStyle/>
          <a:p>
            <a:pPr indent="0" marL="0">
              <a:buNone/>
            </a:pPr>
            <a:r>
              <a:rPr lang="en-US" sz="2600" b="1" dirty="0">
                <a:solidFill>
                  <a:srgbClr val="3E7C59"/>
                </a:solidFill>
                <a:latin typeface="Cambria" pitchFamily="34" charset="0"/>
                <a:ea typeface="Cambria" pitchFamily="34" charset="-122"/>
                <a:cs typeface="Cambria" pitchFamily="34" charset="-120"/>
              </a:rPr>
              <a:t>0 / 297</a:t>
            </a:r>
            <a:endParaRPr lang="en-US" sz="2600" dirty="0"/>
          </a:p>
        </p:txBody>
      </p:sp>
      <p:sp>
        <p:nvSpPr>
          <p:cNvPr id="9" name="Text 6"/>
          <p:cNvSpPr txBox="1"/>
          <p:nvPr/>
        </p:nvSpPr>
        <p:spPr>
          <a:xfrm>
            <a:off x="777240" y="4251960"/>
            <a:ext cx="278892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images where the model loses to bicubic ×2</a:t>
            </a:r>
            <a:endParaRPr lang="en-US" sz="950" dirty="0"/>
          </a:p>
        </p:txBody>
      </p:sp>
      <p:sp>
        <p:nvSpPr>
          <p:cNvPr id="10" name="Shape 7"/>
          <p:cNvSpPr/>
          <p:nvPr/>
        </p:nvSpPr>
        <p:spPr>
          <a:xfrm>
            <a:off x="4023360" y="3291840"/>
            <a:ext cx="3383280" cy="1371600"/>
          </a:xfrm>
          <a:prstGeom prst="roundRect">
            <a:avLst>
              <a:gd name="adj" fmla="val 2667"/>
            </a:avLst>
          </a:prstGeom>
          <a:solidFill>
            <a:srgbClr val="ECEFF2"/>
          </a:solidFill>
          <a:ln w="9525">
            <a:solidFill>
              <a:srgbClr val="DDE2E7"/>
            </a:solidFill>
            <a:prstDash val="solid"/>
          </a:ln>
        </p:spPr>
      </p:sp>
      <p:sp>
        <p:nvSpPr>
          <p:cNvPr id="11" name="Text 8"/>
          <p:cNvSpPr txBox="1"/>
          <p:nvPr/>
        </p:nvSpPr>
        <p:spPr>
          <a:xfrm>
            <a:off x="4251960" y="3474720"/>
            <a:ext cx="292608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IMPROVED ON STRUCTURE EVERYWHERE</a:t>
            </a:r>
            <a:endParaRPr lang="en-US" sz="950" dirty="0"/>
          </a:p>
        </p:txBody>
      </p:sp>
      <p:sp>
        <p:nvSpPr>
          <p:cNvPr id="12" name="Text 9"/>
          <p:cNvSpPr txBox="1"/>
          <p:nvPr/>
        </p:nvSpPr>
        <p:spPr>
          <a:xfrm>
            <a:off x="4251960" y="3749040"/>
            <a:ext cx="2926080" cy="502920"/>
          </a:xfrm>
          <a:prstGeom prst="rect">
            <a:avLst/>
          </a:prstGeom>
          <a:noFill/>
          <a:ln/>
        </p:spPr>
        <p:txBody>
          <a:bodyPr wrap="square" lIns="0" tIns="0" rIns="0" bIns="0" rtlCol="0" anchor="ctr"/>
          <a:lstStyle/>
          <a:p>
            <a:pPr indent="0" marL="0">
              <a:buNone/>
            </a:pPr>
            <a:r>
              <a:rPr lang="en-US" sz="2600" b="1" dirty="0">
                <a:solidFill>
                  <a:srgbClr val="3E7C59"/>
                </a:solidFill>
                <a:latin typeface="Cambria" pitchFamily="34" charset="0"/>
                <a:ea typeface="Cambria" pitchFamily="34" charset="-122"/>
                <a:cs typeface="Cambria" pitchFamily="34" charset="-120"/>
              </a:rPr>
              <a:t>297 / 297</a:t>
            </a:r>
            <a:endParaRPr lang="en-US" sz="2600" dirty="0"/>
          </a:p>
        </p:txBody>
      </p:sp>
      <p:sp>
        <p:nvSpPr>
          <p:cNvPr id="13" name="Text 10"/>
          <p:cNvSpPr txBox="1"/>
          <p:nvPr/>
        </p:nvSpPr>
        <p:spPr>
          <a:xfrm>
            <a:off x="4251960" y="4251960"/>
            <a:ext cx="292608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images where SSIM improves — no exceptions</a:t>
            </a:r>
            <a:endParaRPr lang="en-US" sz="950" dirty="0"/>
          </a:p>
        </p:txBody>
      </p:sp>
      <p:sp>
        <p:nvSpPr>
          <p:cNvPr id="14" name="Shape 11"/>
          <p:cNvSpPr/>
          <p:nvPr/>
        </p:nvSpPr>
        <p:spPr>
          <a:xfrm>
            <a:off x="548640" y="4800600"/>
            <a:ext cx="6858000" cy="1234440"/>
          </a:xfrm>
          <a:prstGeom prst="roundRect">
            <a:avLst>
              <a:gd name="adj" fmla="val 2963"/>
            </a:avLst>
          </a:prstGeom>
          <a:solidFill>
            <a:srgbClr val="FFFFFF"/>
          </a:solidFill>
          <a:ln w="9525">
            <a:solidFill>
              <a:srgbClr val="DDE2E7"/>
            </a:solidFill>
            <a:prstDash val="solid"/>
          </a:ln>
        </p:spPr>
      </p:sp>
      <p:sp>
        <p:nvSpPr>
          <p:cNvPr id="15" name="Text 12"/>
          <p:cNvSpPr txBox="1"/>
          <p:nvPr/>
        </p:nvSpPr>
        <p:spPr>
          <a:xfrm>
            <a:off x="822960" y="4983480"/>
            <a:ext cx="630936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WHY A PAIRED TEST AND NOT A MEAN</a:t>
            </a:r>
            <a:endParaRPr lang="en-US" sz="950" dirty="0"/>
          </a:p>
        </p:txBody>
      </p:sp>
      <p:sp>
        <p:nvSpPr>
          <p:cNvPr id="16" name="Text 13"/>
          <p:cNvSpPr txBox="1"/>
          <p:nvPr/>
        </p:nvSpPr>
        <p:spPr>
          <a:xfrm>
            <a:off x="822960" y="5257800"/>
            <a:ext cx="6309360" cy="68580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PSNR varies by more than 8 dB across these 297 images depending on content. Comparing two means buries a 0.15 dB effect inside that spread; pairing removes the image from the comparison entirely, which is why t reaches 10.3 on a difference this small.</a:t>
            </a:r>
            <a:endParaRPr lang="en-US" sz="1050" dirty="0"/>
          </a:p>
        </p:txBody>
      </p:sp>
      <p:sp>
        <p:nvSpPr>
          <p:cNvPr id="17" name="Shape 14"/>
          <p:cNvSpPr/>
          <p:nvPr/>
        </p:nvSpPr>
        <p:spPr>
          <a:xfrm>
            <a:off x="7635240" y="1554480"/>
            <a:ext cx="3977640" cy="2240280"/>
          </a:xfrm>
          <a:prstGeom prst="roundRect">
            <a:avLst>
              <a:gd name="adj" fmla="val 1633"/>
            </a:avLst>
          </a:prstGeom>
          <a:solidFill>
            <a:srgbClr val="FBF2EC"/>
          </a:solidFill>
          <a:ln w="9525">
            <a:solidFill>
              <a:srgbClr val="E3A574"/>
            </a:solidFill>
            <a:prstDash val="solid"/>
          </a:ln>
        </p:spPr>
      </p:sp>
      <p:sp>
        <p:nvSpPr>
          <p:cNvPr id="18" name="Text 15"/>
          <p:cNvSpPr txBox="1"/>
          <p:nvPr/>
        </p:nvSpPr>
        <p:spPr>
          <a:xfrm>
            <a:off x="7909560" y="175564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ON THE 1,197 IMAGES RELEASED AT THE FINALE</a:t>
            </a:r>
            <a:endParaRPr lang="en-US" sz="950" dirty="0"/>
          </a:p>
        </p:txBody>
      </p:sp>
      <p:sp>
        <p:nvSpPr>
          <p:cNvPr id="19" name="Text 16"/>
          <p:cNvSpPr txBox="1"/>
          <p:nvPr/>
        </p:nvSpPr>
        <p:spPr>
          <a:xfrm>
            <a:off x="7909560" y="2057400"/>
            <a:ext cx="3474720" cy="274320"/>
          </a:xfrm>
          <a:prstGeom prst="rect">
            <a:avLst/>
          </a:prstGeom>
          <a:noFill/>
          <a:ln/>
        </p:spPr>
        <p:txBody>
          <a:bodyPr wrap="square" lIns="0" tIns="0" rIns="0" bIns="0" rtlCol="0" anchor="t"/>
          <a:lstStyle/>
          <a:p>
            <a:pPr algn="l" indent="0" marL="0">
              <a:lnSpc>
                <a:spcPct val="118000"/>
              </a:lnSpc>
              <a:buNone/>
            </a:pPr>
            <a:r>
              <a:rPr lang="en-US" sz="1000" dirty="0">
                <a:solidFill>
                  <a:srgbClr val="4A5560"/>
                </a:solidFill>
                <a:latin typeface="Calibri" pitchFamily="34" charset="0"/>
                <a:ea typeface="Calibri" pitchFamily="34" charset="-122"/>
                <a:cs typeface="Calibri" pitchFamily="34" charset="-120"/>
              </a:rPr>
              <a:t>Scored after training, never trained on:</a:t>
            </a:r>
            <a:endParaRPr lang="en-US" sz="1000" dirty="0"/>
          </a:p>
        </p:txBody>
      </p:sp>
      <p:sp>
        <p:nvSpPr>
          <p:cNvPr id="20" name="Text 17"/>
          <p:cNvSpPr txBox="1"/>
          <p:nvPr/>
        </p:nvSpPr>
        <p:spPr>
          <a:xfrm>
            <a:off x="7909560" y="2404872"/>
            <a:ext cx="2103120" cy="256032"/>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PSNR</a:t>
            </a:r>
            <a:endParaRPr lang="en-US" sz="1050" dirty="0"/>
          </a:p>
        </p:txBody>
      </p:sp>
      <p:sp>
        <p:nvSpPr>
          <p:cNvPr id="21" name="Text 18"/>
          <p:cNvSpPr txBox="1"/>
          <p:nvPr/>
        </p:nvSpPr>
        <p:spPr>
          <a:xfrm>
            <a:off x="10058400" y="2404872"/>
            <a:ext cx="1280160" cy="256032"/>
          </a:xfrm>
          <a:prstGeom prst="rect">
            <a:avLst/>
          </a:prstGeom>
          <a:noFill/>
          <a:ln/>
        </p:spPr>
        <p:txBody>
          <a:bodyPr wrap="square" lIns="0" tIns="0" rIns="0" bIns="0" rtlCol="0" anchor="t"/>
          <a:lstStyle/>
          <a:p>
            <a:pPr algn="r" indent="0" marL="0">
              <a:lnSpc>
                <a:spcPct val="118000"/>
              </a:lnSpc>
              <a:buNone/>
            </a:pPr>
            <a:r>
              <a:rPr lang="en-US" sz="1050" b="1" dirty="0">
                <a:solidFill>
                  <a:srgbClr val="C2703B"/>
                </a:solidFill>
                <a:latin typeface="Calibri" pitchFamily="34" charset="0"/>
                <a:ea typeface="Calibri" pitchFamily="34" charset="-122"/>
                <a:cs typeface="Calibri" pitchFamily="34" charset="-120"/>
              </a:rPr>
              <a:t>23.5943</a:t>
            </a:r>
            <a:endParaRPr lang="en-US" sz="1050" dirty="0"/>
          </a:p>
        </p:txBody>
      </p:sp>
      <p:sp>
        <p:nvSpPr>
          <p:cNvPr id="22" name="Text 19"/>
          <p:cNvSpPr txBox="1"/>
          <p:nvPr/>
        </p:nvSpPr>
        <p:spPr>
          <a:xfrm>
            <a:off x="7909560" y="2706624"/>
            <a:ext cx="2103120" cy="256032"/>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SSIM</a:t>
            </a:r>
            <a:endParaRPr lang="en-US" sz="1050" dirty="0"/>
          </a:p>
        </p:txBody>
      </p:sp>
      <p:sp>
        <p:nvSpPr>
          <p:cNvPr id="23" name="Text 20"/>
          <p:cNvSpPr txBox="1"/>
          <p:nvPr/>
        </p:nvSpPr>
        <p:spPr>
          <a:xfrm>
            <a:off x="10058400" y="2706624"/>
            <a:ext cx="1280160" cy="256032"/>
          </a:xfrm>
          <a:prstGeom prst="rect">
            <a:avLst/>
          </a:prstGeom>
          <a:noFill/>
          <a:ln/>
        </p:spPr>
        <p:txBody>
          <a:bodyPr wrap="square" lIns="0" tIns="0" rIns="0" bIns="0" rtlCol="0" anchor="t"/>
          <a:lstStyle/>
          <a:p>
            <a:pPr algn="r" indent="0" marL="0">
              <a:lnSpc>
                <a:spcPct val="118000"/>
              </a:lnSpc>
              <a:buNone/>
            </a:pPr>
            <a:r>
              <a:rPr lang="en-US" sz="1050" b="1" dirty="0">
                <a:solidFill>
                  <a:srgbClr val="C2703B"/>
                </a:solidFill>
                <a:latin typeface="Calibri" pitchFamily="34" charset="0"/>
                <a:ea typeface="Calibri" pitchFamily="34" charset="-122"/>
                <a:cs typeface="Calibri" pitchFamily="34" charset="-120"/>
              </a:rPr>
              <a:t>0.60630</a:t>
            </a:r>
            <a:endParaRPr lang="en-US" sz="1050" dirty="0"/>
          </a:p>
        </p:txBody>
      </p:sp>
      <p:sp>
        <p:nvSpPr>
          <p:cNvPr id="24" name="Text 21"/>
          <p:cNvSpPr txBox="1"/>
          <p:nvPr/>
        </p:nvSpPr>
        <p:spPr>
          <a:xfrm>
            <a:off x="7909560" y="3008376"/>
            <a:ext cx="2103120" cy="256032"/>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LPIPS</a:t>
            </a:r>
            <a:endParaRPr lang="en-US" sz="1050" dirty="0"/>
          </a:p>
        </p:txBody>
      </p:sp>
      <p:sp>
        <p:nvSpPr>
          <p:cNvPr id="25" name="Text 22"/>
          <p:cNvSpPr txBox="1"/>
          <p:nvPr/>
        </p:nvSpPr>
        <p:spPr>
          <a:xfrm>
            <a:off x="10058400" y="3008376"/>
            <a:ext cx="1280160" cy="256032"/>
          </a:xfrm>
          <a:prstGeom prst="rect">
            <a:avLst/>
          </a:prstGeom>
          <a:noFill/>
          <a:ln/>
        </p:spPr>
        <p:txBody>
          <a:bodyPr wrap="square" lIns="0" tIns="0" rIns="0" bIns="0" rtlCol="0" anchor="t"/>
          <a:lstStyle/>
          <a:p>
            <a:pPr algn="r" indent="0" marL="0">
              <a:lnSpc>
                <a:spcPct val="118000"/>
              </a:lnSpc>
              <a:buNone/>
            </a:pPr>
            <a:r>
              <a:rPr lang="en-US" sz="1050" b="1" dirty="0">
                <a:solidFill>
                  <a:srgbClr val="C2703B"/>
                </a:solidFill>
                <a:latin typeface="Calibri" pitchFamily="34" charset="0"/>
                <a:ea typeface="Calibri" pitchFamily="34" charset="-122"/>
                <a:cs typeface="Calibri" pitchFamily="34" charset="-120"/>
              </a:rPr>
              <a:t>0.18499</a:t>
            </a:r>
            <a:endParaRPr lang="en-US" sz="1050" dirty="0"/>
          </a:p>
        </p:txBody>
      </p:sp>
      <p:sp>
        <p:nvSpPr>
          <p:cNvPr id="26" name="Text 23"/>
          <p:cNvSpPr txBox="1"/>
          <p:nvPr/>
        </p:nvSpPr>
        <p:spPr>
          <a:xfrm>
            <a:off x="7909560" y="3310128"/>
            <a:ext cx="2103120" cy="256032"/>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drop vs the 297</a:t>
            </a:r>
            <a:endParaRPr lang="en-US" sz="1050" dirty="0"/>
          </a:p>
        </p:txBody>
      </p:sp>
      <p:sp>
        <p:nvSpPr>
          <p:cNvPr id="27" name="Text 24"/>
          <p:cNvSpPr txBox="1"/>
          <p:nvPr/>
        </p:nvSpPr>
        <p:spPr>
          <a:xfrm>
            <a:off x="10058400" y="3310128"/>
            <a:ext cx="1280160" cy="256032"/>
          </a:xfrm>
          <a:prstGeom prst="rect">
            <a:avLst/>
          </a:prstGeom>
          <a:noFill/>
          <a:ln/>
        </p:spPr>
        <p:txBody>
          <a:bodyPr wrap="square" lIns="0" tIns="0" rIns="0" bIns="0" rtlCol="0" anchor="t"/>
          <a:lstStyle/>
          <a:p>
            <a:pPr algn="r" indent="0" marL="0">
              <a:lnSpc>
                <a:spcPct val="118000"/>
              </a:lnSpc>
              <a:buNone/>
            </a:pPr>
            <a:r>
              <a:rPr lang="en-US" sz="1050" b="1" dirty="0">
                <a:solidFill>
                  <a:srgbClr val="4A5560"/>
                </a:solidFill>
                <a:latin typeface="Calibri" pitchFamily="34" charset="0"/>
                <a:ea typeface="Calibri" pitchFamily="34" charset="-122"/>
                <a:cs typeface="Calibri" pitchFamily="34" charset="-120"/>
              </a:rPr>
              <a:t>0.235 dB</a:t>
            </a:r>
            <a:endParaRPr lang="en-US" sz="1050" dirty="0"/>
          </a:p>
        </p:txBody>
      </p:sp>
      <p:sp>
        <p:nvSpPr>
          <p:cNvPr id="28" name="Text 25"/>
          <p:cNvSpPr txBox="1"/>
          <p:nvPr/>
        </p:nvSpPr>
        <p:spPr>
          <a:xfrm>
            <a:off x="7909560" y="3639312"/>
            <a:ext cx="3474720" cy="274320"/>
          </a:xfrm>
          <a:prstGeom prst="rect">
            <a:avLst/>
          </a:prstGeom>
          <a:noFill/>
          <a:ln/>
        </p:spPr>
        <p:txBody>
          <a:bodyPr wrap="square" lIns="0" tIns="0" rIns="0" bIns="0" rtlCol="0" anchor="t"/>
          <a:lstStyle/>
          <a:p>
            <a:pPr algn="l" indent="0" marL="0">
              <a:lnSpc>
                <a:spcPct val="118000"/>
              </a:lnSpc>
              <a:buNone/>
            </a:pPr>
            <a:r>
              <a:rPr lang="en-US" sz="900" dirty="0">
                <a:solidFill>
                  <a:srgbClr val="7C8895"/>
                </a:solidFill>
                <a:latin typeface="Calibri" pitchFamily="34" charset="0"/>
                <a:ea typeface="Calibri" pitchFamily="34" charset="-122"/>
                <a:cs typeface="Calibri" pitchFamily="34" charset="-120"/>
              </a:rPr>
              <a:t>kla2/results/protocol.csv</a:t>
            </a:r>
            <a:endParaRPr lang="en-US" sz="900" dirty="0"/>
          </a:p>
        </p:txBody>
      </p:sp>
      <p:sp>
        <p:nvSpPr>
          <p:cNvPr id="29" name="Shape 26"/>
          <p:cNvSpPr/>
          <p:nvPr/>
        </p:nvSpPr>
        <p:spPr>
          <a:xfrm>
            <a:off x="7635240" y="3931920"/>
            <a:ext cx="3977640" cy="2103120"/>
          </a:xfrm>
          <a:prstGeom prst="roundRect">
            <a:avLst>
              <a:gd name="adj" fmla="val 1739"/>
            </a:avLst>
          </a:prstGeom>
          <a:solidFill>
            <a:srgbClr val="FFFFFF"/>
          </a:solidFill>
          <a:ln w="9525">
            <a:solidFill>
              <a:srgbClr val="DDE2E7"/>
            </a:solidFill>
            <a:prstDash val="solid"/>
          </a:ln>
        </p:spPr>
      </p:sp>
      <p:sp>
        <p:nvSpPr>
          <p:cNvPr id="30" name="Text 27"/>
          <p:cNvSpPr txBox="1"/>
          <p:nvPr/>
        </p:nvSpPr>
        <p:spPr>
          <a:xfrm>
            <a:off x="7909560" y="413308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READ THAT HONESTLY</a:t>
            </a:r>
            <a:endParaRPr lang="en-US" sz="950" dirty="0"/>
          </a:p>
        </p:txBody>
      </p:sp>
      <p:sp>
        <p:nvSpPr>
          <p:cNvPr id="31" name="Text 28"/>
          <p:cNvSpPr txBox="1"/>
          <p:nvPr/>
        </p:nvSpPr>
        <p:spPr>
          <a:xfrm>
            <a:off x="7909560" y="4416552"/>
            <a:ext cx="3474720" cy="150876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A 0.235 dB drop on data drawn from the same acquisition campaign is a modest, expected generalisation gap — not evidence of robustness to a genuinely different instrument.</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We have no images from a different tool, so we do not claim that.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A Comparison We Had to Redo</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Our first knob comparison put the new model at depth 15 against the old one at depth 16. That is not a comparison — it is a discount. Redone at matched depth, here is what actually holds.</a:t>
            </a:r>
            <a:endParaRPr lang="en-US" sz="1150" dirty="0"/>
          </a:p>
        </p:txBody>
      </p:sp>
      <p:graphicFrame>
        <p:nvGraphicFramePr>
          <p:cNvPr id="4" name="Chart 0" descr=""/>
          <p:cNvGraphicFramePr/>
          <p:nvPr/>
        </p:nvGraphicFramePr>
        <p:xfrm>
          <a:off x="548640" y="1463040"/>
          <a:ext cx="6949440" cy="2834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343400"/>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PSNR of e1f_gate minus PSNR of the shipped model, at the same trunk depth, on the same 297 images, same GPU.</a:t>
            </a:r>
            <a:endParaRPr lang="en-US" sz="950" dirty="0"/>
          </a:p>
        </p:txBody>
      </p:sp>
      <p:sp>
        <p:nvSpPr>
          <p:cNvPr id="6" name="Shape 3"/>
          <p:cNvSpPr/>
          <p:nvPr/>
        </p:nvSpPr>
        <p:spPr>
          <a:xfrm>
            <a:off x="548640" y="4709160"/>
            <a:ext cx="6949440" cy="1325880"/>
          </a:xfrm>
          <a:prstGeom prst="roundRect">
            <a:avLst>
              <a:gd name="adj" fmla="val 2759"/>
            </a:avLst>
          </a:prstGeom>
          <a:solidFill>
            <a:srgbClr val="ECEFF2"/>
          </a:solidFill>
          <a:ln w="9525">
            <a:solidFill>
              <a:srgbClr val="DDE2E7"/>
            </a:solidFill>
            <a:prstDash val="solid"/>
          </a:ln>
        </p:spPr>
      </p:sp>
      <p:sp>
        <p:nvSpPr>
          <p:cNvPr id="7" name="Text 4"/>
          <p:cNvSpPr txBox="1"/>
          <p:nvPr/>
        </p:nvSpPr>
        <p:spPr>
          <a:xfrm>
            <a:off x="822960" y="4892040"/>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THE RESULT, INCLUDING THE ROW THAT GOES THE WRONG WAY</a:t>
            </a:r>
            <a:endParaRPr lang="en-US" sz="950" dirty="0"/>
          </a:p>
        </p:txBody>
      </p:sp>
      <p:sp>
        <p:nvSpPr>
          <p:cNvPr id="8" name="Text 5"/>
          <p:cNvSpPr txBox="1"/>
          <p:nvPr/>
        </p:nvSpPr>
        <p:spPr>
          <a:xfrm>
            <a:off x="822960" y="5166360"/>
            <a:ext cx="6400800" cy="77724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The gate is ahead on PSNR at 13 of 14 depths. The exception is depth 11, where it is behind by 0.0056 dB. On SSIM it is ahead at only 7 of 14 — its advantage there is concentrated at the shallow end and at full depth, and its worst deficit is 0.01575 at depth 11 as well.</a:t>
            </a:r>
            <a:endParaRPr lang="en-US" sz="1050" dirty="0"/>
          </a:p>
        </p:txBody>
      </p:sp>
      <p:sp>
        <p:nvSpPr>
          <p:cNvPr id="9" name="Shape 6"/>
          <p:cNvSpPr/>
          <p:nvPr/>
        </p:nvSpPr>
        <p:spPr>
          <a:xfrm>
            <a:off x="7635240" y="1463040"/>
            <a:ext cx="3977640" cy="2377440"/>
          </a:xfrm>
          <a:prstGeom prst="roundRect">
            <a:avLst>
              <a:gd name="adj" fmla="val 1538"/>
            </a:avLst>
          </a:prstGeom>
          <a:solidFill>
            <a:srgbClr val="FBF2EC"/>
          </a:solidFill>
          <a:ln w="9525">
            <a:solidFill>
              <a:srgbClr val="E3A574"/>
            </a:solidFill>
            <a:prstDash val="solid"/>
          </a:ln>
        </p:spPr>
      </p:sp>
      <p:sp>
        <p:nvSpPr>
          <p:cNvPr id="10" name="Text 7"/>
          <p:cNvSpPr txBox="1"/>
          <p:nvPr/>
        </p:nvSpPr>
        <p:spPr>
          <a:xfrm>
            <a:off x="7909560" y="166420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WHY THIS MATTERED ENOUGH TO REDO</a:t>
            </a:r>
            <a:endParaRPr lang="en-US" sz="950" dirty="0"/>
          </a:p>
        </p:txBody>
      </p:sp>
      <p:sp>
        <p:nvSpPr>
          <p:cNvPr id="11" name="Text 8"/>
          <p:cNvSpPr txBox="1"/>
          <p:nvPr/>
        </p:nvSpPr>
        <p:spPr>
          <a:xfrm>
            <a:off x="7909560" y="1947672"/>
            <a:ext cx="3474720" cy="178308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A knob exists so an operator can deliberately choose a lower setting. If we only showed that the new model at a reduced depth beats the old model at full depth, we would be hiding the comparison that an operator at depth 11 actually faces.</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The question is not "is it better" — it is "is it better at the setting I am running".</a:t>
            </a:r>
            <a:endParaRPr lang="en-US" sz="1000" dirty="0"/>
          </a:p>
        </p:txBody>
      </p:sp>
      <p:sp>
        <p:nvSpPr>
          <p:cNvPr id="12" name="Shape 9"/>
          <p:cNvSpPr/>
          <p:nvPr/>
        </p:nvSpPr>
        <p:spPr>
          <a:xfrm>
            <a:off x="7635240" y="3977640"/>
            <a:ext cx="3977640" cy="2057400"/>
          </a:xfrm>
          <a:prstGeom prst="roundRect">
            <a:avLst>
              <a:gd name="adj" fmla="val 1778"/>
            </a:avLst>
          </a:prstGeom>
          <a:solidFill>
            <a:srgbClr val="FFFFFF"/>
          </a:solidFill>
          <a:ln w="9525">
            <a:solidFill>
              <a:srgbClr val="DDE2E7"/>
            </a:solidFill>
            <a:prstDash val="solid"/>
          </a:ln>
        </p:spPr>
      </p:sp>
      <p:sp>
        <p:nvSpPr>
          <p:cNvPr id="13" name="Text 10"/>
          <p:cNvSpPr txBox="1"/>
          <p:nvPr/>
        </p:nvSpPr>
        <p:spPr>
          <a:xfrm>
            <a:off x="7909560" y="417880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WHAT WE NOW PUBLISH</a:t>
            </a:r>
            <a:endParaRPr lang="en-US" sz="950" dirty="0"/>
          </a:p>
        </p:txBody>
      </p:sp>
      <p:sp>
        <p:nvSpPr>
          <p:cNvPr id="14" name="Text 11"/>
          <p:cNvSpPr txBox="1"/>
          <p:nvPr/>
        </p:nvSpPr>
        <p:spPr>
          <a:xfrm>
            <a:off x="7909560" y="4462272"/>
            <a:ext cx="3474720" cy="146304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Both curves, at every depth, in models/knob_datasheet.json — including the depths where the older model is better, and the SSIM column where it is better more often than not.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The Test That Decided Whether We Shipped It</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A model chosen on the visible test set can still collapse outside its training noise range. The candidate had never been tested there, so we swept both models — same GPU, same images, same seeds.</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949440" cy="914400"/>
        </p:xfrm>
        <a:graphic>
          <a:graphicData uri="http://schemas.openxmlformats.org/drawingml/2006/table">
            <a:tbl>
              <a:tblPr/>
              <a:tblGrid>
                <a:gridCol w="2011680"/>
                <a:gridCol w="1005840"/>
                <a:gridCol w="1005840"/>
                <a:gridCol w="1005840"/>
                <a:gridCol w="1097280"/>
                <a:gridCol w="822960"/>
              </a:tblGrid>
              <a:tr h="292608">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σ_mul</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bicubic</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e1f_gate</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gain</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forgex gain</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Δ</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21.15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22.61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+1.46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+1.41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0.15  ← the real data</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20.01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22.16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+2.15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+2.07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+0.08</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0.25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17.76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21.29</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+3.53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+3.40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0.35   out of range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15.82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20.78</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+4.96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+4.86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0.45   out of range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14.23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20.44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+6.21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+6.12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+0.09</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bl>
          </a:graphicData>
        </a:graphic>
      </p:graphicFrame>
      <p:sp>
        <p:nvSpPr>
          <p:cNvPr id="5" name="Text 2"/>
          <p:cNvSpPr txBox="1"/>
          <p:nvPr/>
        </p:nvSpPr>
        <p:spPr>
          <a:xfrm>
            <a:off x="548640" y="3611880"/>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60 images per level, gain = model PSNR − bicubic PSNR. docs/noise_sweep_e1f_gate.csv, docs/noise_sweep_forgex.csv</a:t>
            </a:r>
            <a:endParaRPr lang="en-US" sz="950" dirty="0"/>
          </a:p>
        </p:txBody>
      </p:sp>
      <p:sp>
        <p:nvSpPr>
          <p:cNvPr id="6" name="Shape 3"/>
          <p:cNvSpPr/>
          <p:nvPr/>
        </p:nvSpPr>
        <p:spPr>
          <a:xfrm>
            <a:off x="548640" y="3977640"/>
            <a:ext cx="6949440" cy="2057400"/>
          </a:xfrm>
          <a:prstGeom prst="roundRect">
            <a:avLst>
              <a:gd name="adj" fmla="val 1778"/>
            </a:avLst>
          </a:prstGeom>
          <a:solidFill>
            <a:srgbClr val="ECEFF2"/>
          </a:solidFill>
          <a:ln w="9525">
            <a:solidFill>
              <a:srgbClr val="DDE2E7"/>
            </a:solidFill>
            <a:prstDash val="solid"/>
          </a:ln>
        </p:spPr>
      </p:sp>
      <p:sp>
        <p:nvSpPr>
          <p:cNvPr id="7" name="Text 4"/>
          <p:cNvSpPr txBox="1"/>
          <p:nvPr/>
        </p:nvSpPr>
        <p:spPr>
          <a:xfrm>
            <a:off x="822960" y="4160520"/>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THE FAILURE MODE WE WERE LOOKING FOR, AND DID NOT FIND</a:t>
            </a:r>
            <a:endParaRPr lang="en-US" sz="950" dirty="0"/>
          </a:p>
        </p:txBody>
      </p:sp>
      <p:sp>
        <p:nvSpPr>
          <p:cNvPr id="8" name="Text 5"/>
          <p:cNvSpPr txBox="1"/>
          <p:nvPr/>
        </p:nvSpPr>
        <p:spPr>
          <a:xfrm>
            <a:off x="822960" y="4462272"/>
            <a:ext cx="6400800" cy="141732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A fragile model crosses below the incumbent somewhere past the training range — it has learned the noise it was shown rather than the structure underneath. The gate never crosses. It is ahead at every level, with SSIM higher and LPIPS lower throughout, and the margin widens as noise grows.</a:t>
            </a:r>
            <a:endParaRPr lang="en-US" sz="1050" dirty="0"/>
          </a:p>
          <a:p>
            <a:pPr algn="l" indent="0" marL="0">
              <a:lnSpc>
                <a:spcPct val="118000"/>
              </a:lnSpc>
              <a:buNone/>
            </a:pPr>
            <a:endParaRPr lang="en-US" sz="1050" dirty="0"/>
          </a:p>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Had it collapsed at σ 0.45, we would have shipped the Round 2 model and presented the gate and the engines as an optimisation result. That decision rule was written down before the sweep was run.</a:t>
            </a:r>
            <a:endParaRPr lang="en-US" sz="1050" dirty="0"/>
          </a:p>
        </p:txBody>
      </p:sp>
      <p:sp>
        <p:nvSpPr>
          <p:cNvPr id="9" name="Shape 6"/>
          <p:cNvSpPr/>
          <p:nvPr/>
        </p:nvSpPr>
        <p:spPr>
          <a:xfrm>
            <a:off x="7635240" y="1600200"/>
            <a:ext cx="3977640" cy="2331720"/>
          </a:xfrm>
          <a:prstGeom prst="roundRect">
            <a:avLst>
              <a:gd name="adj" fmla="val 1569"/>
            </a:avLst>
          </a:prstGeom>
          <a:solidFill>
            <a:srgbClr val="FBF2EC"/>
          </a:solidFill>
          <a:ln w="9525">
            <a:solidFill>
              <a:srgbClr val="E3A574"/>
            </a:solidFill>
            <a:prstDash val="solid"/>
          </a:ln>
        </p:spPr>
      </p:sp>
      <p:sp>
        <p:nvSpPr>
          <p:cNvPr id="10" name="Text 7"/>
          <p:cNvSpPr txBox="1"/>
          <p:nvPr/>
        </p:nvSpPr>
        <p:spPr>
          <a:xfrm>
            <a:off x="7909560" y="180136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WHY WE RE-MEASURED THE OLD MODEL TOO</a:t>
            </a:r>
            <a:endParaRPr lang="en-US" sz="950" dirty="0"/>
          </a:p>
        </p:txBody>
      </p:sp>
      <p:sp>
        <p:nvSpPr>
          <p:cNvPr id="11" name="Text 8"/>
          <p:cNvSpPr txBox="1"/>
          <p:nvPr/>
        </p:nvSpPr>
        <p:spPr>
          <a:xfrm>
            <a:off x="7909560" y="2084832"/>
            <a:ext cx="3474720" cy="1737360"/>
          </a:xfrm>
          <a:prstGeom prst="rect">
            <a:avLst/>
          </a:prstGeom>
          <a:noFill/>
          <a:ln/>
        </p:spPr>
        <p:txBody>
          <a:bodyPr wrap="square" lIns="0" tIns="0" rIns="0" bIns="0" rtlCol="0" anchor="t"/>
          <a:lstStyle/>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Our records had the Round 2 model at +5.91 dB at σ 0.45, from a different machine months earlier.</a:t>
            </a:r>
            <a:endParaRPr lang="en-US" sz="1000" dirty="0"/>
          </a:p>
          <a:p>
            <a:pPr algn="l" indent="0" marL="0">
              <a:lnSpc>
                <a:spcPct val="116000"/>
              </a:lnSpc>
              <a:buNone/>
            </a:pPr>
            <a:endParaRPr lang="en-US" sz="1000" dirty="0"/>
          </a:p>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Measured here, on this GPU with these seeds, it is +6.12. Comparing the new model's +6.21 against the remembered +5.91 would have claimed a margin three times the real one.</a:t>
            </a:r>
            <a:endParaRPr lang="en-US" sz="1000" dirty="0"/>
          </a:p>
          <a:p>
            <a:pPr algn="l" indent="0" marL="0">
              <a:lnSpc>
                <a:spcPct val="116000"/>
              </a:lnSpc>
              <a:buNone/>
            </a:pPr>
            <a:endParaRPr lang="en-US" sz="1000" dirty="0"/>
          </a:p>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So we shipped the old checkpoint to the pod and swept both.</a:t>
            </a:r>
            <a:endParaRPr lang="en-US" sz="1000" dirty="0"/>
          </a:p>
        </p:txBody>
      </p:sp>
      <p:sp>
        <p:nvSpPr>
          <p:cNvPr id="12" name="Shape 9"/>
          <p:cNvSpPr/>
          <p:nvPr/>
        </p:nvSpPr>
        <p:spPr>
          <a:xfrm>
            <a:off x="7635240" y="4069080"/>
            <a:ext cx="3977640" cy="1965960"/>
          </a:xfrm>
          <a:prstGeom prst="roundRect">
            <a:avLst>
              <a:gd name="adj" fmla="val 1860"/>
            </a:avLst>
          </a:prstGeom>
          <a:solidFill>
            <a:srgbClr val="FFFFFF"/>
          </a:solidFill>
          <a:ln w="9525">
            <a:solidFill>
              <a:srgbClr val="DDE2E7"/>
            </a:solidFill>
            <a:prstDash val="solid"/>
          </a:ln>
        </p:spPr>
      </p:sp>
      <p:sp>
        <p:nvSpPr>
          <p:cNvPr id="13" name="Text 10"/>
          <p:cNvSpPr txBox="1"/>
          <p:nvPr/>
        </p:nvSpPr>
        <p:spPr>
          <a:xfrm>
            <a:off x="7909560" y="427024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STATED LIMIT</a:t>
            </a:r>
            <a:endParaRPr lang="en-US" sz="950" dirty="0"/>
          </a:p>
        </p:txBody>
      </p:sp>
      <p:sp>
        <p:nvSpPr>
          <p:cNvPr id="14" name="Text 11"/>
          <p:cNvSpPr txBox="1"/>
          <p:nvPr/>
        </p:nvSpPr>
        <p:spPr>
          <a:xfrm>
            <a:off x="7909560" y="4553712"/>
            <a:ext cx="3474720" cy="1371600"/>
          </a:xfrm>
          <a:prstGeom prst="rect">
            <a:avLst/>
          </a:prstGeom>
          <a:noFill/>
          <a:ln/>
        </p:spPr>
        <p:txBody>
          <a:bodyPr wrap="square" lIns="0" tIns="0" rIns="0" bIns="0" rtlCol="0" anchor="t"/>
          <a:lstStyle/>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Levels above σ_mul 0.25 are synthesised by our own degradation generator, which structurally favours a model trained against it. The comparison between the two models is fair; the absolute numbers out there are not a claim about real instruments.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The Knob: One Model, Fourteen Operating Points</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--depth N runs only the first N of 16 residual blocks. No retraining, no second model, no distillation — and a shallow run fails toward bicubic rather than toward noise.</a:t>
            </a:r>
            <a:endParaRPr lang="en-US" sz="1150" dirty="0"/>
          </a:p>
        </p:txBody>
      </p:sp>
      <p:sp>
        <p:nvSpPr>
          <p:cNvPr id="4" name="Shape 2"/>
          <p:cNvSpPr/>
          <p:nvPr/>
        </p:nvSpPr>
        <p:spPr>
          <a:xfrm>
            <a:off x="548640" y="1417320"/>
            <a:ext cx="6949440" cy="1920240"/>
          </a:xfrm>
          <a:prstGeom prst="roundRect">
            <a:avLst>
              <a:gd name="adj" fmla="val 1905"/>
            </a:avLst>
          </a:prstGeom>
          <a:solidFill>
            <a:srgbClr val="ECEFF2"/>
          </a:solidFill>
          <a:ln w="9525">
            <a:solidFill>
              <a:srgbClr val="DDE2E7"/>
            </a:solidFill>
            <a:prstDash val="solid"/>
          </a:ln>
        </p:spPr>
      </p:sp>
      <p:sp>
        <p:nvSpPr>
          <p:cNvPr id="5" name="Text 3"/>
          <p:cNvSpPr txBox="1"/>
          <p:nvPr/>
        </p:nvSpPr>
        <p:spPr>
          <a:xfrm>
            <a:off x="822960" y="1600200"/>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WHY TRUNCATION IS SAFE HERE, AND WOULD NOT BE IN A PLAIN CNN</a:t>
            </a:r>
            <a:endParaRPr lang="en-US" sz="950" dirty="0"/>
          </a:p>
        </p:txBody>
      </p:sp>
      <p:sp>
        <p:nvSpPr>
          <p:cNvPr id="6" name="Text 4"/>
          <p:cNvSpPr txBox="1"/>
          <p:nvPr/>
        </p:nvSpPr>
        <p:spPr>
          <a:xfrm>
            <a:off x="822960" y="1901952"/>
            <a:ext cx="6400800" cy="132588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The network does not predict the image. It predicts a correction to a bicubic upsample, through a tail initialised at zero, added back in FP32. Remove blocks and the correction gets smaller — the output slides back toward the bicubic baseline it was built on top of.</a:t>
            </a:r>
            <a:endParaRPr lang="en-US" sz="1050" dirty="0"/>
          </a:p>
          <a:p>
            <a:pPr algn="l" indent="0" marL="0">
              <a:lnSpc>
                <a:spcPct val="118000"/>
              </a:lnSpc>
              <a:buNone/>
            </a:pPr>
            <a:endParaRPr lang="en-US" sz="1050" dirty="0"/>
          </a:p>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Measured: even at depth 0, with the entire trunk removed, the output is still +2.21 dB over bicubic. There is no setting at which this produces garbage.</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6949440" cy="914400"/>
        </p:xfrm>
        <a:graphic>
          <a:graphicData uri="http://schemas.openxmlformats.org/drawingml/2006/table">
            <a:tbl>
              <a:tblPr/>
              <a:tblGrid>
                <a:gridCol w="914400"/>
                <a:gridCol w="1188720"/>
                <a:gridCol w="1371600"/>
                <a:gridCol w="1371600"/>
                <a:gridCol w="2103120"/>
              </a:tblGrid>
              <a:tr h="274320">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depth</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GFLOPs</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PSNR</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SSIM</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4.25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22.6648</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0.50694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not monotone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6.74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22.6564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0.50280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not monotone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9.22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22.6501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0.49951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not monotone</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11.71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22.7333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0.50011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MIN_SAFE_DEPTH</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74320">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44.02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23.8297</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0.62104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full</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bl>
          </a:graphicData>
        </a:graphic>
      </p:graphicFrame>
      <p:sp>
        <p:nvSpPr>
          <p:cNvPr id="8" name="Text 5"/>
          <p:cNvSpPr txBox="1"/>
          <p:nvPr/>
        </p:nvSpPr>
        <p:spPr>
          <a:xfrm>
            <a:off x="548640" y="5394960"/>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kla2/results/knob_e1f.csv — the full 17-row curve is in the repository.</a:t>
            </a:r>
            <a:endParaRPr lang="en-US" sz="950" dirty="0"/>
          </a:p>
        </p:txBody>
      </p:sp>
      <p:sp>
        <p:nvSpPr>
          <p:cNvPr id="9" name="Shape 6"/>
          <p:cNvSpPr/>
          <p:nvPr/>
        </p:nvSpPr>
        <p:spPr>
          <a:xfrm>
            <a:off x="7635240" y="1417320"/>
            <a:ext cx="3977640" cy="2286000"/>
          </a:xfrm>
          <a:prstGeom prst="roundRect">
            <a:avLst>
              <a:gd name="adj" fmla="val 1600"/>
            </a:avLst>
          </a:prstGeom>
          <a:solidFill>
            <a:srgbClr val="FBF2EC"/>
          </a:solidFill>
          <a:ln w="9525">
            <a:solidFill>
              <a:srgbClr val="E3A574"/>
            </a:solidFill>
            <a:prstDash val="solid"/>
          </a:ln>
        </p:spPr>
      </p:sp>
      <p:sp>
        <p:nvSpPr>
          <p:cNvPr id="10" name="Text 7"/>
          <p:cNvSpPr txBox="1"/>
          <p:nvPr/>
        </p:nvSpPr>
        <p:spPr>
          <a:xfrm>
            <a:off x="7909560" y="161848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THE FLAG REFUSES THREE OF ITS OWN SETTINGS</a:t>
            </a:r>
            <a:endParaRPr lang="en-US" sz="950" dirty="0"/>
          </a:p>
        </p:txBody>
      </p:sp>
      <p:sp>
        <p:nvSpPr>
          <p:cNvPr id="11" name="Text 8"/>
          <p:cNvSpPr txBox="1"/>
          <p:nvPr/>
        </p:nvSpPr>
        <p:spPr>
          <a:xfrm>
            <a:off x="7909560" y="1901952"/>
            <a:ext cx="3474720" cy="169164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Depths 0, 1 and 2 are not monotone — 22.6648, 22.6564, 22.6501. Adding a block there makes the output slightly worse.</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So MIN_SAFE_DEPTH is 3, and --depth 1 warns and clamps rather than obeying. A control that silently honours a setting we know to be bad is not a control.</a:t>
            </a:r>
            <a:endParaRPr lang="en-US" sz="1000" dirty="0"/>
          </a:p>
        </p:txBody>
      </p:sp>
      <p:sp>
        <p:nvSpPr>
          <p:cNvPr id="12" name="Shape 9"/>
          <p:cNvSpPr/>
          <p:nvPr/>
        </p:nvSpPr>
        <p:spPr>
          <a:xfrm>
            <a:off x="7635240" y="3840480"/>
            <a:ext cx="3977640" cy="2194560"/>
          </a:xfrm>
          <a:prstGeom prst="roundRect">
            <a:avLst>
              <a:gd name="adj" fmla="val 1667"/>
            </a:avLst>
          </a:prstGeom>
          <a:solidFill>
            <a:srgbClr val="FFFFFF"/>
          </a:solidFill>
          <a:ln w="9525">
            <a:solidFill>
              <a:srgbClr val="DDE2E7"/>
            </a:solidFill>
            <a:prstDash val="solid"/>
          </a:ln>
        </p:spPr>
      </p:sp>
      <p:sp>
        <p:nvSpPr>
          <p:cNvPr id="13" name="Text 10"/>
          <p:cNvSpPr txBox="1"/>
          <p:nvPr/>
        </p:nvSpPr>
        <p:spPr>
          <a:xfrm>
            <a:off x="7909560" y="404164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HOW AN OPERATOR ADDRESSES IT</a:t>
            </a:r>
            <a:endParaRPr lang="en-US" sz="950" dirty="0"/>
          </a:p>
        </p:txBody>
      </p:sp>
      <p:sp>
        <p:nvSpPr>
          <p:cNvPr id="14" name="Text 11"/>
          <p:cNvSpPr txBox="1"/>
          <p:nvPr/>
        </p:nvSpPr>
        <p:spPr>
          <a:xfrm>
            <a:off x="7909560" y="4325112"/>
            <a:ext cx="3474720" cy="658368"/>
          </a:xfrm>
          <a:prstGeom prst="rect">
            <a:avLst/>
          </a:prstGeom>
          <a:noFill/>
          <a:ln/>
        </p:spPr>
        <p:txBody>
          <a:bodyPr wrap="square" lIns="0" tIns="0" rIns="0" bIns="0" rtlCol="0" anchor="t"/>
          <a:lstStyle/>
          <a:p>
            <a:pPr algn="l" indent="0" marL="0">
              <a:lnSpc>
                <a:spcPct val="135000"/>
              </a:lnSpc>
              <a:buNone/>
            </a:pPr>
            <a:r>
              <a:rPr lang="en-US" sz="900" dirty="0">
                <a:solidFill>
                  <a:srgbClr val="23282E"/>
                </a:solidFill>
                <a:latin typeface="Consolas" pitchFamily="34" charset="0"/>
                <a:ea typeface="Consolas" pitchFamily="34" charset="-122"/>
                <a:cs typeface="Consolas" pitchFamily="34" charset="-120"/>
              </a:rPr>
              <a:t>--depth N        exact setting</a:t>
            </a:r>
            <a:endParaRPr lang="en-US" sz="900" dirty="0"/>
          </a:p>
          <a:p>
            <a:pPr algn="l" indent="0" marL="0">
              <a:lnSpc>
                <a:spcPct val="135000"/>
              </a:lnSpc>
              <a:buNone/>
            </a:pPr>
            <a:r>
              <a:rPr lang="en-US" sz="900" dirty="0">
                <a:solidFill>
                  <a:srgbClr val="23282E"/>
                </a:solidFill>
                <a:latin typeface="Consolas" pitchFamily="34" charset="0"/>
                <a:ea typeface="Consolas" pitchFamily="34" charset="-122"/>
                <a:cs typeface="Consolas" pitchFamily="34" charset="-120"/>
              </a:rPr>
              <a:t>--budget-ms X    best quality in a budget</a:t>
            </a:r>
            <a:endParaRPr lang="en-US" sz="900" dirty="0"/>
          </a:p>
          <a:p>
            <a:pPr algn="l" indent="0" marL="0">
              <a:lnSpc>
                <a:spcPct val="135000"/>
              </a:lnSpc>
              <a:buNone/>
            </a:pPr>
            <a:r>
              <a:rPr lang="en-US" sz="900" dirty="0">
                <a:solidFill>
                  <a:srgbClr val="23282E"/>
                </a:solidFill>
                <a:latin typeface="Consolas" pitchFamily="34" charset="0"/>
                <a:ea typeface="Consolas" pitchFamily="34" charset="-122"/>
                <a:cs typeface="Consolas" pitchFamily="34" charset="-120"/>
              </a:rPr>
              <a:t>--prefer ssim    optimise SSIM, not PSNR</a:t>
            </a:r>
            <a:endParaRPr lang="en-US" sz="900" dirty="0"/>
          </a:p>
        </p:txBody>
      </p:sp>
      <p:sp>
        <p:nvSpPr>
          <p:cNvPr id="15" name="Text 12"/>
          <p:cNvSpPr txBox="1"/>
          <p:nvPr/>
        </p:nvSpPr>
        <p:spPr>
          <a:xfrm>
            <a:off x="7909560" y="5120640"/>
            <a:ext cx="3474720" cy="868680"/>
          </a:xfrm>
          <a:prstGeom prst="rect">
            <a:avLst/>
          </a:prstGeom>
          <a:noFill/>
          <a:ln/>
        </p:spPr>
        <p:txBody>
          <a:bodyPr wrap="square" lIns="0" tIns="0" rIns="0" bIns="0" rtlCol="0" anchor="t"/>
          <a:lstStyle/>
          <a:p>
            <a:pPr algn="l" indent="0" marL="0">
              <a:lnSpc>
                <a:spcPct val="118000"/>
              </a:lnSpc>
              <a:buNone/>
            </a:pPr>
            <a:r>
              <a:rPr lang="en-US" sz="1000" dirty="0">
                <a:solidFill>
                  <a:srgbClr val="4A5560"/>
                </a:solidFill>
                <a:latin typeface="Calibri" pitchFamily="34" charset="0"/>
                <a:ea typeface="Calibri" pitchFamily="34" charset="-122"/>
                <a:cs typeface="Calibri" pitchFamily="34" charset="-120"/>
              </a:rPr>
              <a:t>The budget solver maximises quality within the budget rather than taking the deepest setting that fits — those differ whenever the curve is not monotone.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The Knob, Calibrated on the Target GPU</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FLOPs do not predict latency here, so every setting is timed on the hardware it will run on. The result is a datasheet the run script reads, not a curve on a slide.</a:t>
            </a:r>
            <a:endParaRPr lang="en-US" sz="1150" dirty="0"/>
          </a:p>
        </p:txBody>
      </p:sp>
      <p:graphicFrame>
        <p:nvGraphicFramePr>
          <p:cNvPr id="4" name="Chart 0" descr=""/>
          <p:cNvGraphicFramePr/>
          <p:nvPr/>
        </p:nvGraphicFramePr>
        <p:xfrm>
          <a:off x="548640" y="1463040"/>
          <a:ext cx="6949440" cy="21031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3611880"/>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PSNR against trunk depth — strictly monotone from depth 3 upward.</a:t>
            </a:r>
            <a:endParaRPr lang="en-US" sz="950" dirty="0"/>
          </a:p>
        </p:txBody>
      </p:sp>
      <p:graphicFrame>
        <p:nvGraphicFramePr>
          <p:cNvPr id="6" name="Chart 1" descr=""/>
          <p:cNvGraphicFramePr/>
          <p:nvPr/>
        </p:nvGraphicFramePr>
        <p:xfrm>
          <a:off x="548640" y="3977640"/>
          <a:ext cx="6949440" cy="182880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5806440"/>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Milliseconds per image, H100 NVL, batch 32, fp16 — measured, interleaved, 5 rounds, spread 0.5–1.5%.</a:t>
            </a:r>
            <a:endParaRPr lang="en-US" sz="950" dirty="0"/>
          </a:p>
        </p:txBody>
      </p:sp>
      <p:sp>
        <p:nvSpPr>
          <p:cNvPr id="8" name="Shape 4"/>
          <p:cNvSpPr/>
          <p:nvPr/>
        </p:nvSpPr>
        <p:spPr>
          <a:xfrm>
            <a:off x="7635240" y="1463040"/>
            <a:ext cx="3977640" cy="2148840"/>
          </a:xfrm>
          <a:prstGeom prst="roundRect">
            <a:avLst>
              <a:gd name="adj" fmla="val 1702"/>
            </a:avLst>
          </a:prstGeom>
          <a:solidFill>
            <a:srgbClr val="FBF2EC"/>
          </a:solidFill>
          <a:ln w="9525">
            <a:solidFill>
              <a:srgbClr val="E3A574"/>
            </a:solidFill>
            <a:prstDash val="solid"/>
          </a:ln>
        </p:spPr>
      </p:sp>
      <p:sp>
        <p:nvSpPr>
          <p:cNvPr id="9" name="Text 5"/>
          <p:cNvSpPr txBox="1"/>
          <p:nvPr/>
        </p:nvSpPr>
        <p:spPr>
          <a:xfrm>
            <a:off x="7909560" y="166420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NO DOMINATED SETTINGS</a:t>
            </a:r>
            <a:endParaRPr lang="en-US" sz="950" dirty="0"/>
          </a:p>
        </p:txBody>
      </p:sp>
      <p:sp>
        <p:nvSpPr>
          <p:cNvPr id="10" name="Text 6"/>
          <p:cNvSpPr txBox="1"/>
          <p:nvPr/>
        </p:nvSpPr>
        <p:spPr>
          <a:xfrm>
            <a:off x="7909560" y="1947672"/>
            <a:ext cx="3474720" cy="155448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The Round 2 model's curve had a trap: depth 14 was slower than depth 13 AND lower in PSNR — 23.3931 against 23.4064. An operator choosing "the deepest that fits my budget" would have selected a setting that is strictly worse.</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The gate's curve has no such row. Every stop is a real trade.</a:t>
            </a:r>
            <a:endParaRPr lang="en-US" sz="1000" dirty="0"/>
          </a:p>
        </p:txBody>
      </p:sp>
      <p:sp>
        <p:nvSpPr>
          <p:cNvPr id="11" name="Shape 7"/>
          <p:cNvSpPr/>
          <p:nvPr/>
        </p:nvSpPr>
        <p:spPr>
          <a:xfrm>
            <a:off x="7635240" y="3749040"/>
            <a:ext cx="3977640" cy="2057400"/>
          </a:xfrm>
          <a:prstGeom prst="roundRect">
            <a:avLst>
              <a:gd name="adj" fmla="val 1778"/>
            </a:avLst>
          </a:prstGeom>
          <a:solidFill>
            <a:srgbClr val="FFFFFF"/>
          </a:solidFill>
          <a:ln w="9525">
            <a:solidFill>
              <a:srgbClr val="DDE2E7"/>
            </a:solidFill>
            <a:prstDash val="solid"/>
          </a:ln>
        </p:spPr>
      </p:sp>
      <p:sp>
        <p:nvSpPr>
          <p:cNvPr id="12" name="Text 8"/>
          <p:cNvSpPr txBox="1"/>
          <p:nvPr/>
        </p:nvSpPr>
        <p:spPr>
          <a:xfrm>
            <a:off x="7909560" y="395020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THE LAST BLOCK EARNS ITS PLACE ON SSIM, NOT PSNR</a:t>
            </a:r>
            <a:endParaRPr lang="en-US" sz="950" dirty="0"/>
          </a:p>
        </p:txBody>
      </p:sp>
      <p:sp>
        <p:nvSpPr>
          <p:cNvPr id="13" name="Text 9"/>
          <p:cNvSpPr txBox="1"/>
          <p:nvPr/>
        </p:nvSpPr>
        <p:spPr>
          <a:xfrm>
            <a:off x="7909560" y="4233672"/>
            <a:ext cx="3474720" cy="146304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Depth 15 → 16 is worth +0.003 dB of PSNR and +0.029 of SSIM.</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If a judge asks why not ship depth 15 and save six percent of the compute, that is the answer — and if the metric were PSNR alone, depth 15 would be the right choice.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Where the Time Actually Goes</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We were asked to optimise inference. The first thing we did was measure what fraction of a scored run inference even is — and the answer retired a claim we had already published.</a:t>
            </a:r>
            <a:endParaRPr lang="en-US" sz="1150" dirty="0"/>
          </a:p>
        </p:txBody>
      </p:sp>
      <p:sp>
        <p:nvSpPr>
          <p:cNvPr id="4" name="Shape 2"/>
          <p:cNvSpPr/>
          <p:nvPr/>
        </p:nvSpPr>
        <p:spPr>
          <a:xfrm>
            <a:off x="548640" y="1463040"/>
            <a:ext cx="6949440" cy="2148840"/>
          </a:xfrm>
          <a:prstGeom prst="roundRect">
            <a:avLst>
              <a:gd name="adj" fmla="val 1702"/>
            </a:avLst>
          </a:prstGeom>
          <a:solidFill>
            <a:srgbClr val="ECEFF2"/>
          </a:solidFill>
          <a:ln w="9525">
            <a:solidFill>
              <a:srgbClr val="DDE2E7"/>
            </a:solidFill>
            <a:prstDash val="solid"/>
          </a:ln>
        </p:spPr>
      </p:sp>
      <p:sp>
        <p:nvSpPr>
          <p:cNvPr id="5" name="Text 3"/>
          <p:cNvSpPr txBox="1"/>
          <p:nvPr/>
        </p:nvSpPr>
        <p:spPr>
          <a:xfrm>
            <a:off x="822960" y="1645920"/>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A 2.686 S SCORED RUN OF 297 IMAGES, BROKEN DOWN</a:t>
            </a:r>
            <a:endParaRPr lang="en-US" sz="950" dirty="0"/>
          </a:p>
        </p:txBody>
      </p:sp>
      <p:sp>
        <p:nvSpPr>
          <p:cNvPr id="6" name="Text 4"/>
          <p:cNvSpPr txBox="1"/>
          <p:nvPr/>
        </p:nvSpPr>
        <p:spPr>
          <a:xfrm>
            <a:off x="822960" y="1965960"/>
            <a:ext cx="4023360" cy="274320"/>
          </a:xfrm>
          <a:prstGeom prst="rect">
            <a:avLst/>
          </a:prstGeom>
          <a:noFill/>
          <a:ln/>
        </p:spPr>
        <p:txBody>
          <a:bodyPr wrap="square" lIns="0" tIns="0" rIns="0" bIns="0" rtlCol="0" anchor="t"/>
          <a:lstStyle/>
          <a:p>
            <a:pPr algn="l" indent="0" marL="0">
              <a:lnSpc>
                <a:spcPct val="118000"/>
              </a:lnSpc>
              <a:buNone/>
            </a:pPr>
            <a:r>
              <a:rPr lang="en-US" sz="1050" b="1" dirty="0">
                <a:solidFill>
                  <a:srgbClr val="23282E"/>
                </a:solidFill>
                <a:latin typeface="Calibri" pitchFamily="34" charset="0"/>
                <a:ea typeface="Calibri" pitchFamily="34" charset="-122"/>
                <a:cs typeface="Calibri" pitchFamily="34" charset="-120"/>
              </a:rPr>
              <a:t>import torch</a:t>
            </a:r>
            <a:endParaRPr lang="en-US" sz="1050" dirty="0"/>
          </a:p>
        </p:txBody>
      </p:sp>
      <p:sp>
        <p:nvSpPr>
          <p:cNvPr id="7" name="Text 5"/>
          <p:cNvSpPr txBox="1"/>
          <p:nvPr/>
        </p:nvSpPr>
        <p:spPr>
          <a:xfrm>
            <a:off x="4937760" y="1965960"/>
            <a:ext cx="1005840" cy="274320"/>
          </a:xfrm>
          <a:prstGeom prst="rect">
            <a:avLst/>
          </a:prstGeom>
          <a:noFill/>
          <a:ln/>
        </p:spPr>
        <p:txBody>
          <a:bodyPr wrap="square" lIns="0" tIns="0" rIns="0" bIns="0" rtlCol="0" anchor="t"/>
          <a:lstStyle/>
          <a:p>
            <a:pPr algn="r" indent="0" marL="0">
              <a:lnSpc>
                <a:spcPct val="118000"/>
              </a:lnSpc>
              <a:buNone/>
            </a:pPr>
            <a:r>
              <a:rPr lang="en-US" sz="1050" b="1" dirty="0">
                <a:solidFill>
                  <a:srgbClr val="23282E"/>
                </a:solidFill>
                <a:latin typeface="Calibri" pitchFamily="34" charset="0"/>
                <a:ea typeface="Calibri" pitchFamily="34" charset="-122"/>
                <a:cs typeface="Calibri" pitchFamily="34" charset="-120"/>
              </a:rPr>
              <a:t>1.445 s</a:t>
            </a:r>
            <a:endParaRPr lang="en-US" sz="1050" dirty="0"/>
          </a:p>
        </p:txBody>
      </p:sp>
      <p:sp>
        <p:nvSpPr>
          <p:cNvPr id="8" name="Text 6"/>
          <p:cNvSpPr txBox="1"/>
          <p:nvPr/>
        </p:nvSpPr>
        <p:spPr>
          <a:xfrm>
            <a:off x="6035040" y="1965960"/>
            <a:ext cx="1005840" cy="274320"/>
          </a:xfrm>
          <a:prstGeom prst="rect">
            <a:avLst/>
          </a:prstGeom>
          <a:noFill/>
          <a:ln/>
        </p:spPr>
        <p:txBody>
          <a:bodyPr wrap="square" lIns="0" tIns="0" rIns="0" bIns="0" rtlCol="0" anchor="t"/>
          <a:lstStyle/>
          <a:p>
            <a:pPr algn="r" indent="0" marL="0">
              <a:lnSpc>
                <a:spcPct val="118000"/>
              </a:lnSpc>
              <a:buNone/>
            </a:pPr>
            <a:r>
              <a:rPr lang="en-US" sz="1050" b="1" dirty="0">
                <a:solidFill>
                  <a:srgbClr val="C2703B"/>
                </a:solidFill>
                <a:latin typeface="Calibri" pitchFamily="34" charset="0"/>
                <a:ea typeface="Calibri" pitchFamily="34" charset="-122"/>
                <a:cs typeface="Calibri" pitchFamily="34" charset="-120"/>
              </a:rPr>
              <a:t>53.8%</a:t>
            </a:r>
            <a:endParaRPr lang="en-US" sz="1050" dirty="0"/>
          </a:p>
        </p:txBody>
      </p:sp>
      <p:sp>
        <p:nvSpPr>
          <p:cNvPr id="9" name="Text 7"/>
          <p:cNvSpPr txBox="1"/>
          <p:nvPr/>
        </p:nvSpPr>
        <p:spPr>
          <a:xfrm>
            <a:off x="822960" y="2331720"/>
            <a:ext cx="4023360" cy="27432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checkpoint load + CUDA context + kernel init</a:t>
            </a:r>
            <a:endParaRPr lang="en-US" sz="1050" dirty="0"/>
          </a:p>
        </p:txBody>
      </p:sp>
      <p:sp>
        <p:nvSpPr>
          <p:cNvPr id="10" name="Text 8"/>
          <p:cNvSpPr txBox="1"/>
          <p:nvPr/>
        </p:nvSpPr>
        <p:spPr>
          <a:xfrm>
            <a:off x="4937760" y="2331720"/>
            <a:ext cx="1005840" cy="274320"/>
          </a:xfrm>
          <a:prstGeom prst="rect">
            <a:avLst/>
          </a:prstGeom>
          <a:noFill/>
          <a:ln/>
        </p:spPr>
        <p:txBody>
          <a:bodyPr wrap="square" lIns="0" tIns="0" rIns="0" bIns="0" rtlCol="0" anchor="t"/>
          <a:lstStyle/>
          <a:p>
            <a:pPr algn="r" indent="0" marL="0">
              <a:lnSpc>
                <a:spcPct val="118000"/>
              </a:lnSpc>
              <a:buNone/>
            </a:pPr>
            <a:r>
              <a:rPr lang="en-US" sz="1050" dirty="0">
                <a:solidFill>
                  <a:srgbClr val="23282E"/>
                </a:solidFill>
                <a:latin typeface="Calibri" pitchFamily="34" charset="0"/>
                <a:ea typeface="Calibri" pitchFamily="34" charset="-122"/>
                <a:cs typeface="Calibri" pitchFamily="34" charset="-120"/>
              </a:rPr>
              <a:t>0.48 s</a:t>
            </a:r>
            <a:endParaRPr lang="en-US" sz="1050" dirty="0"/>
          </a:p>
        </p:txBody>
      </p:sp>
      <p:sp>
        <p:nvSpPr>
          <p:cNvPr id="11" name="Text 9"/>
          <p:cNvSpPr txBox="1"/>
          <p:nvPr/>
        </p:nvSpPr>
        <p:spPr>
          <a:xfrm>
            <a:off x="6035040" y="2331720"/>
            <a:ext cx="1005840" cy="274320"/>
          </a:xfrm>
          <a:prstGeom prst="rect">
            <a:avLst/>
          </a:prstGeom>
          <a:noFill/>
          <a:ln/>
        </p:spPr>
        <p:txBody>
          <a:bodyPr wrap="square" lIns="0" tIns="0" rIns="0" bIns="0" rtlCol="0" anchor="t"/>
          <a:lstStyle/>
          <a:p>
            <a:pPr algn="r" indent="0" marL="0">
              <a:lnSpc>
                <a:spcPct val="118000"/>
              </a:lnSpc>
              <a:buNone/>
            </a:pPr>
            <a:r>
              <a:rPr lang="en-US" sz="1050" dirty="0">
                <a:solidFill>
                  <a:srgbClr val="4A5560"/>
                </a:solidFill>
                <a:latin typeface="Calibri" pitchFamily="34" charset="0"/>
                <a:ea typeface="Calibri" pitchFamily="34" charset="-122"/>
                <a:cs typeface="Calibri" pitchFamily="34" charset="-120"/>
              </a:rPr>
              <a:t>17.9%</a:t>
            </a:r>
            <a:endParaRPr lang="en-US" sz="1050" dirty="0"/>
          </a:p>
        </p:txBody>
      </p:sp>
      <p:sp>
        <p:nvSpPr>
          <p:cNvPr id="12" name="Text 10"/>
          <p:cNvSpPr txBox="1"/>
          <p:nvPr/>
        </p:nvSpPr>
        <p:spPr>
          <a:xfrm>
            <a:off x="822960" y="2697480"/>
            <a:ext cx="4023360" cy="27432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the model's actual arithmetic</a:t>
            </a:r>
            <a:endParaRPr lang="en-US" sz="1050" dirty="0"/>
          </a:p>
        </p:txBody>
      </p:sp>
      <p:sp>
        <p:nvSpPr>
          <p:cNvPr id="13" name="Text 11"/>
          <p:cNvSpPr txBox="1"/>
          <p:nvPr/>
        </p:nvSpPr>
        <p:spPr>
          <a:xfrm>
            <a:off x="4937760" y="2697480"/>
            <a:ext cx="1005840" cy="274320"/>
          </a:xfrm>
          <a:prstGeom prst="rect">
            <a:avLst/>
          </a:prstGeom>
          <a:noFill/>
          <a:ln/>
        </p:spPr>
        <p:txBody>
          <a:bodyPr wrap="square" lIns="0" tIns="0" rIns="0" bIns="0" rtlCol="0" anchor="t"/>
          <a:lstStyle/>
          <a:p>
            <a:pPr algn="r" indent="0" marL="0">
              <a:lnSpc>
                <a:spcPct val="118000"/>
              </a:lnSpc>
              <a:buNone/>
            </a:pPr>
            <a:r>
              <a:rPr lang="en-US" sz="1050" dirty="0">
                <a:solidFill>
                  <a:srgbClr val="23282E"/>
                </a:solidFill>
                <a:latin typeface="Calibri" pitchFamily="34" charset="0"/>
                <a:ea typeface="Calibri" pitchFamily="34" charset="-122"/>
                <a:cs typeface="Calibri" pitchFamily="34" charset="-120"/>
              </a:rPr>
              <a:t>0.13 s</a:t>
            </a:r>
            <a:endParaRPr lang="en-US" sz="1050" dirty="0"/>
          </a:p>
        </p:txBody>
      </p:sp>
      <p:sp>
        <p:nvSpPr>
          <p:cNvPr id="14" name="Text 12"/>
          <p:cNvSpPr txBox="1"/>
          <p:nvPr/>
        </p:nvSpPr>
        <p:spPr>
          <a:xfrm>
            <a:off x="6035040" y="2697480"/>
            <a:ext cx="1005840" cy="274320"/>
          </a:xfrm>
          <a:prstGeom prst="rect">
            <a:avLst/>
          </a:prstGeom>
          <a:noFill/>
          <a:ln/>
        </p:spPr>
        <p:txBody>
          <a:bodyPr wrap="square" lIns="0" tIns="0" rIns="0" bIns="0" rtlCol="0" anchor="t"/>
          <a:lstStyle/>
          <a:p>
            <a:pPr algn="r" indent="0" marL="0">
              <a:lnSpc>
                <a:spcPct val="118000"/>
              </a:lnSpc>
              <a:buNone/>
            </a:pPr>
            <a:r>
              <a:rPr lang="en-US" sz="1050" dirty="0">
                <a:solidFill>
                  <a:srgbClr val="4A5560"/>
                </a:solidFill>
                <a:latin typeface="Calibri" pitchFamily="34" charset="0"/>
                <a:ea typeface="Calibri" pitchFamily="34" charset="-122"/>
                <a:cs typeface="Calibri" pitchFamily="34" charset="-120"/>
              </a:rPr>
              <a:t>4.7%</a:t>
            </a:r>
            <a:endParaRPr lang="en-US" sz="1050" dirty="0"/>
          </a:p>
        </p:txBody>
      </p:sp>
      <p:sp>
        <p:nvSpPr>
          <p:cNvPr id="15" name="Text 13"/>
          <p:cNvSpPr txBox="1"/>
          <p:nvPr/>
        </p:nvSpPr>
        <p:spPr>
          <a:xfrm>
            <a:off x="822960" y="3063240"/>
            <a:ext cx="4023360" cy="27432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disk read, write, and everything else</a:t>
            </a:r>
            <a:endParaRPr lang="en-US" sz="1050" dirty="0"/>
          </a:p>
        </p:txBody>
      </p:sp>
      <p:sp>
        <p:nvSpPr>
          <p:cNvPr id="16" name="Text 14"/>
          <p:cNvSpPr txBox="1"/>
          <p:nvPr/>
        </p:nvSpPr>
        <p:spPr>
          <a:xfrm>
            <a:off x="4937760" y="3063240"/>
            <a:ext cx="1005840" cy="274320"/>
          </a:xfrm>
          <a:prstGeom prst="rect">
            <a:avLst/>
          </a:prstGeom>
          <a:noFill/>
          <a:ln/>
        </p:spPr>
        <p:txBody>
          <a:bodyPr wrap="square" lIns="0" tIns="0" rIns="0" bIns="0" rtlCol="0" anchor="t"/>
          <a:lstStyle/>
          <a:p>
            <a:pPr algn="r" indent="0" marL="0">
              <a:lnSpc>
                <a:spcPct val="118000"/>
              </a:lnSpc>
              <a:buNone/>
            </a:pPr>
            <a:r>
              <a:rPr lang="en-US" sz="1050" dirty="0">
                <a:solidFill>
                  <a:srgbClr val="23282E"/>
                </a:solidFill>
                <a:latin typeface="Calibri" pitchFamily="34" charset="0"/>
                <a:ea typeface="Calibri" pitchFamily="34" charset="-122"/>
                <a:cs typeface="Calibri" pitchFamily="34" charset="-120"/>
              </a:rPr>
              <a:t>0.63 s</a:t>
            </a:r>
            <a:endParaRPr lang="en-US" sz="1050" dirty="0"/>
          </a:p>
        </p:txBody>
      </p:sp>
      <p:sp>
        <p:nvSpPr>
          <p:cNvPr id="17" name="Text 15"/>
          <p:cNvSpPr txBox="1"/>
          <p:nvPr/>
        </p:nvSpPr>
        <p:spPr>
          <a:xfrm>
            <a:off x="6035040" y="3063240"/>
            <a:ext cx="1005840" cy="274320"/>
          </a:xfrm>
          <a:prstGeom prst="rect">
            <a:avLst/>
          </a:prstGeom>
          <a:noFill/>
          <a:ln/>
        </p:spPr>
        <p:txBody>
          <a:bodyPr wrap="square" lIns="0" tIns="0" rIns="0" bIns="0" rtlCol="0" anchor="t"/>
          <a:lstStyle/>
          <a:p>
            <a:pPr algn="r" indent="0" marL="0">
              <a:lnSpc>
                <a:spcPct val="118000"/>
              </a:lnSpc>
              <a:buNone/>
            </a:pPr>
            <a:r>
              <a:rPr lang="en-US" sz="1050" dirty="0">
                <a:solidFill>
                  <a:srgbClr val="4A5560"/>
                </a:solidFill>
                <a:latin typeface="Calibri" pitchFamily="34" charset="0"/>
                <a:ea typeface="Calibri" pitchFamily="34" charset="-122"/>
                <a:cs typeface="Calibri" pitchFamily="34" charset="-120"/>
              </a:rPr>
              <a:t>23.6%</a:t>
            </a:r>
            <a:endParaRPr lang="en-US" sz="1050" dirty="0"/>
          </a:p>
        </p:txBody>
      </p:sp>
      <p:sp>
        <p:nvSpPr>
          <p:cNvPr id="18" name="Text 16"/>
          <p:cNvSpPr txBox="1"/>
          <p:nvPr/>
        </p:nvSpPr>
        <p:spPr>
          <a:xfrm>
            <a:off x="822960" y="3401568"/>
            <a:ext cx="6400800" cy="274320"/>
          </a:xfrm>
          <a:prstGeom prst="rect">
            <a:avLst/>
          </a:prstGeom>
          <a:noFill/>
          <a:ln/>
        </p:spPr>
        <p:txBody>
          <a:bodyPr wrap="square" lIns="0" tIns="0" rIns="0" bIns="0" rtlCol="0" anchor="t"/>
          <a:lstStyle/>
          <a:p>
            <a:pPr algn="l" indent="0" marL="0">
              <a:lnSpc>
                <a:spcPct val="118000"/>
              </a:lnSpc>
              <a:buNone/>
            </a:pPr>
            <a:r>
              <a:rPr lang="en-US" sz="1000" i="1" dirty="0">
                <a:solidFill>
                  <a:srgbClr val="4A5560"/>
                </a:solidFill>
                <a:latin typeface="Calibri" pitchFamily="34" charset="0"/>
                <a:ea typeface="Calibri" pitchFamily="34" charset="-122"/>
                <a:cs typeface="Calibri" pitchFamily="34" charset="-120"/>
              </a:rPr>
              <a:t>Every precision trick, every compiler, every kernel fusion competes for that 4.7%.</a:t>
            </a:r>
            <a:endParaRPr lang="en-US" sz="1000" dirty="0"/>
          </a:p>
        </p:txBody>
      </p:sp>
      <p:sp>
        <p:nvSpPr>
          <p:cNvPr id="19" name="Shape 17"/>
          <p:cNvSpPr/>
          <p:nvPr/>
        </p:nvSpPr>
        <p:spPr>
          <a:xfrm>
            <a:off x="548640" y="3794760"/>
            <a:ext cx="6949440" cy="2240280"/>
          </a:xfrm>
          <a:prstGeom prst="roundRect">
            <a:avLst>
              <a:gd name="adj" fmla="val 1633"/>
            </a:avLst>
          </a:prstGeom>
          <a:solidFill>
            <a:srgbClr val="FBF2EC"/>
          </a:solidFill>
          <a:ln w="9525">
            <a:solidFill>
              <a:srgbClr val="E3A574"/>
            </a:solidFill>
            <a:prstDash val="solid"/>
          </a:ln>
        </p:spPr>
      </p:sp>
      <p:sp>
        <p:nvSpPr>
          <p:cNvPr id="20" name="Text 18"/>
          <p:cNvSpPr txBox="1"/>
          <p:nvPr/>
        </p:nvSpPr>
        <p:spPr>
          <a:xfrm>
            <a:off x="822960" y="3977640"/>
            <a:ext cx="640080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A NUMBER WE PUBLISHED AND HAD TO WITHDRAW</a:t>
            </a:r>
            <a:endParaRPr lang="en-US" sz="950" dirty="0"/>
          </a:p>
        </p:txBody>
      </p:sp>
      <p:sp>
        <p:nvSpPr>
          <p:cNvPr id="21" name="Text 19"/>
          <p:cNvSpPr txBox="1"/>
          <p:nvPr/>
        </p:nvSpPr>
        <p:spPr>
          <a:xfrm>
            <a:off x="822960" y="4279392"/>
            <a:ext cx="6400800" cy="160020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Our Round 2 documentation said the forward pass was "about 1% of end-to-end". It was repeated in three places and used to argue that inference optimisation was pointless.</a:t>
            </a:r>
            <a:endParaRPr lang="en-US" sz="1050" dirty="0"/>
          </a:p>
          <a:p>
            <a:pPr algn="l" indent="0" marL="0">
              <a:lnSpc>
                <a:spcPct val="118000"/>
              </a:lnSpc>
              <a:buNone/>
            </a:pPr>
            <a:endParaRPr lang="en-US" sz="1050" dirty="0"/>
          </a:p>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It was wrong. Measured with CUDA events on the laptop: 22.9% at depth 8 and 41.9% at full depth. The original figure came from a cold-cache run where a 17-second import dwarfed everything. The correction is recorded in docs/DAY_LOG_17SEP.md with the original struck through, not silently edited.</a:t>
            </a:r>
            <a:endParaRPr lang="en-US" sz="1050" dirty="0"/>
          </a:p>
        </p:txBody>
      </p:sp>
      <p:sp>
        <p:nvSpPr>
          <p:cNvPr id="22" name="Shape 20"/>
          <p:cNvSpPr/>
          <p:nvPr/>
        </p:nvSpPr>
        <p:spPr>
          <a:xfrm>
            <a:off x="7635240" y="1463040"/>
            <a:ext cx="3977640" cy="2286000"/>
          </a:xfrm>
          <a:prstGeom prst="roundRect">
            <a:avLst>
              <a:gd name="adj" fmla="val 1600"/>
            </a:avLst>
          </a:prstGeom>
          <a:solidFill>
            <a:srgbClr val="FFFFFF"/>
          </a:solidFill>
          <a:ln w="9525">
            <a:solidFill>
              <a:srgbClr val="DDE2E7"/>
            </a:solidFill>
            <a:prstDash val="solid"/>
          </a:ln>
        </p:spPr>
      </p:sp>
      <p:sp>
        <p:nvSpPr>
          <p:cNvPr id="23" name="Text 21"/>
          <p:cNvSpPr txBox="1"/>
          <p:nvPr/>
        </p:nvSpPr>
        <p:spPr>
          <a:xfrm>
            <a:off x="7909560" y="166420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WHAT THIS RULES OUT</a:t>
            </a:r>
            <a:endParaRPr lang="en-US" sz="950" dirty="0"/>
          </a:p>
        </p:txBody>
      </p:sp>
      <p:sp>
        <p:nvSpPr>
          <p:cNvPr id="24" name="Text 22"/>
          <p:cNvSpPr txBox="1"/>
          <p:nvPr/>
        </p:nvSpPr>
        <p:spPr>
          <a:xfrm>
            <a:off x="7909560" y="1947672"/>
            <a:ext cx="3474720" cy="169164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torch.compile is 1.71× faster once warm and costs 11.7 s to compile — a 5.3× regression on a 297-image run, break-even around 22,000 images.</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FP16 weights, channels-last, cuDNN benchmark and batch tuning together move a few percent of a few percent.</a:t>
            </a:r>
            <a:endParaRPr lang="en-US" sz="1000" dirty="0"/>
          </a:p>
        </p:txBody>
      </p:sp>
      <p:sp>
        <p:nvSpPr>
          <p:cNvPr id="25" name="Shape 23"/>
          <p:cNvSpPr/>
          <p:nvPr/>
        </p:nvSpPr>
        <p:spPr>
          <a:xfrm>
            <a:off x="7635240" y="3886200"/>
            <a:ext cx="3977640" cy="2148840"/>
          </a:xfrm>
          <a:prstGeom prst="roundRect">
            <a:avLst>
              <a:gd name="adj" fmla="val 1702"/>
            </a:avLst>
          </a:prstGeom>
          <a:solidFill>
            <a:srgbClr val="ECEFF2"/>
          </a:solidFill>
          <a:ln w="9525">
            <a:solidFill>
              <a:srgbClr val="DDE2E7"/>
            </a:solidFill>
            <a:prstDash val="solid"/>
          </a:ln>
        </p:spPr>
      </p:sp>
      <p:sp>
        <p:nvSpPr>
          <p:cNvPr id="26" name="Text 24"/>
          <p:cNvSpPr txBox="1"/>
          <p:nvPr/>
        </p:nvSpPr>
        <p:spPr>
          <a:xfrm>
            <a:off x="7909560" y="408736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WHAT IT POINTS AT INSTEAD</a:t>
            </a:r>
            <a:endParaRPr lang="en-US" sz="950" dirty="0"/>
          </a:p>
        </p:txBody>
      </p:sp>
      <p:sp>
        <p:nvSpPr>
          <p:cNvPr id="27" name="Text 25"/>
          <p:cNvSpPr txBox="1"/>
          <p:nvPr/>
        </p:nvSpPr>
        <p:spPr>
          <a:xfrm>
            <a:off x="7909560" y="4370832"/>
            <a:ext cx="3474720" cy="155448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If 71.7% of the run is framework startup, the thing to remove is the framework.</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A TensorRT process reaches its first inference in 0.52 s against PyTorch's 1.71 s. That is the optimisation — not a faster kernel, a shorter process.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Five TensorRT Engines</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The knob changes the graph, so one plan cannot serve every depth. We compile five — and the speedup is largest where the run is shortest, because what we removed is a fixed cost.</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822960"/>
                <a:gridCol w="1371600"/>
                <a:gridCol w="1280160"/>
                <a:gridCol w="1188720"/>
                <a:gridCol w="1188720"/>
                <a:gridCol w="1097280"/>
              </a:tblGrid>
              <a:tr h="292608">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depth</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TensorRT</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PyTorch</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speedup</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ΔPSNR</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plan</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1.513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2.364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1.56×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0.0000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7.9 MB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1.614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2.332</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1.45×</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+0.0001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13.3 MB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1.801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2.414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1.34×</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0.0000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20.6 MB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1.916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2.469</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1.29×</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+0.0001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26.0 MB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292608">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2.046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2.586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C2703B"/>
                          </a:solidFill>
                          <a:latin typeface="Calibri" pitchFamily="34" charset="0"/>
                          <a:ea typeface="Calibri" pitchFamily="34" charset="-122"/>
                          <a:cs typeface="Calibri" pitchFamily="34" charset="-120"/>
                        </a:rPr>
                        <a:t>1.26×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−0.0001</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23282E"/>
                          </a:solidFill>
                          <a:latin typeface="Calibri" pitchFamily="34" charset="0"/>
                          <a:ea typeface="Calibri" pitchFamily="34" charset="-122"/>
                          <a:cs typeface="Calibri" pitchFamily="34" charset="-120"/>
                        </a:rPr>
                        <a:t>31.5 MB</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bl>
          </a:graphicData>
        </a:graphic>
      </p:graphicFrame>
      <p:sp>
        <p:nvSpPr>
          <p:cNvPr id="5" name="Text 2"/>
          <p:cNvSpPr txBox="1"/>
          <p:nvPr/>
        </p:nvSpPr>
        <p:spPr>
          <a:xfrm>
            <a:off x="548640" y="3429000"/>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297 images end to end, H100 NVL, median of 7 reps after 2 warmup reps, interleaved round-robin.</a:t>
            </a:r>
            <a:endParaRPr lang="en-US" sz="950" dirty="0"/>
          </a:p>
        </p:txBody>
      </p:sp>
      <p:sp>
        <p:nvSpPr>
          <p:cNvPr id="6" name="Shape 3"/>
          <p:cNvSpPr/>
          <p:nvPr/>
        </p:nvSpPr>
        <p:spPr>
          <a:xfrm>
            <a:off x="548640" y="3794760"/>
            <a:ext cx="6949440" cy="1097280"/>
          </a:xfrm>
          <a:prstGeom prst="roundRect">
            <a:avLst>
              <a:gd name="adj" fmla="val 3333"/>
            </a:avLst>
          </a:prstGeom>
          <a:solidFill>
            <a:srgbClr val="ECEFF2"/>
          </a:solidFill>
          <a:ln w="9525">
            <a:solidFill>
              <a:srgbClr val="DDE2E7"/>
            </a:solidFill>
            <a:prstDash val="solid"/>
          </a:ln>
        </p:spPr>
      </p:sp>
      <p:sp>
        <p:nvSpPr>
          <p:cNvPr id="7" name="Text 4"/>
          <p:cNvSpPr txBox="1"/>
          <p:nvPr/>
        </p:nvSpPr>
        <p:spPr>
          <a:xfrm>
            <a:off x="822960" y="3959352"/>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QUALITY COST OF THE ENTIRE TENSORRT PATH</a:t>
            </a:r>
            <a:endParaRPr lang="en-US" sz="950" dirty="0"/>
          </a:p>
        </p:txBody>
      </p:sp>
      <p:sp>
        <p:nvSpPr>
          <p:cNvPr id="8" name="Text 5"/>
          <p:cNvSpPr txBox="1"/>
          <p:nvPr/>
        </p:nvSpPr>
        <p:spPr>
          <a:xfrm>
            <a:off x="822960" y="4233672"/>
            <a:ext cx="6400800" cy="54864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0.0001 dB. TensorRT 11 networks are strongly typed, so there is no FP16 flag — the engines run FP32 on TF32 tensor cores, and the bicubic skip and residual addition stay exactly FP32 as the specification requires.</a:t>
            </a:r>
            <a:endParaRPr lang="en-US" sz="1050" dirty="0"/>
          </a:p>
        </p:txBody>
      </p:sp>
      <p:sp>
        <p:nvSpPr>
          <p:cNvPr id="9" name="Shape 6"/>
          <p:cNvSpPr/>
          <p:nvPr/>
        </p:nvSpPr>
        <p:spPr>
          <a:xfrm>
            <a:off x="548640" y="5029200"/>
            <a:ext cx="6949440" cy="1005840"/>
          </a:xfrm>
          <a:prstGeom prst="roundRect">
            <a:avLst>
              <a:gd name="adj" fmla="val 3636"/>
            </a:avLst>
          </a:prstGeom>
          <a:solidFill>
            <a:srgbClr val="FFFFFF"/>
          </a:solidFill>
          <a:ln w="9525">
            <a:solidFill>
              <a:srgbClr val="DDE2E7"/>
            </a:solidFill>
            <a:prstDash val="solid"/>
          </a:ln>
        </p:spPr>
      </p:sp>
      <p:sp>
        <p:nvSpPr>
          <p:cNvPr id="10" name="Text 7"/>
          <p:cNvSpPr txBox="1"/>
          <p:nvPr/>
        </p:nvSpPr>
        <p:spPr>
          <a:xfrm>
            <a:off x="822960" y="5175504"/>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WARM STEADY STATE, DEPTH 16</a:t>
            </a:r>
            <a:endParaRPr lang="en-US" sz="950" dirty="0"/>
          </a:p>
        </p:txBody>
      </p:sp>
      <p:sp>
        <p:nvSpPr>
          <p:cNvPr id="11" name="Text 8"/>
          <p:cNvSpPr txBox="1"/>
          <p:nvPr/>
        </p:nvSpPr>
        <p:spPr>
          <a:xfrm>
            <a:off x="822960" y="5431536"/>
            <a:ext cx="6400800" cy="50292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1.61 s and 184 images/second, back-to-back on a hot engine. The 2.046 s above is the cold per-invocation figure — what a judge running one command sees. Both are reported.</a:t>
            </a:r>
            <a:endParaRPr lang="en-US" sz="1050" dirty="0"/>
          </a:p>
        </p:txBody>
      </p:sp>
      <p:sp>
        <p:nvSpPr>
          <p:cNvPr id="12" name="Shape 9"/>
          <p:cNvSpPr/>
          <p:nvPr/>
        </p:nvSpPr>
        <p:spPr>
          <a:xfrm>
            <a:off x="7635240" y="1463040"/>
            <a:ext cx="3977640" cy="2331720"/>
          </a:xfrm>
          <a:prstGeom prst="roundRect">
            <a:avLst>
              <a:gd name="adj" fmla="val 1569"/>
            </a:avLst>
          </a:prstGeom>
          <a:solidFill>
            <a:srgbClr val="FBF2EC"/>
          </a:solidFill>
          <a:ln w="9525">
            <a:solidFill>
              <a:srgbClr val="E3A574"/>
            </a:solidFill>
            <a:prstDash val="solid"/>
          </a:ln>
        </p:spPr>
      </p:sp>
      <p:sp>
        <p:nvSpPr>
          <p:cNvPr id="13" name="Text 10"/>
          <p:cNvSpPr txBox="1"/>
          <p:nvPr/>
        </p:nvSpPr>
        <p:spPr>
          <a:xfrm>
            <a:off x="7909560" y="166420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WHY THE SPEEDUP SHRINKS WITH DEPTH</a:t>
            </a:r>
            <a:endParaRPr lang="en-US" sz="950" dirty="0"/>
          </a:p>
        </p:txBody>
      </p:sp>
      <p:sp>
        <p:nvSpPr>
          <p:cNvPr id="14" name="Text 11"/>
          <p:cNvSpPr txBox="1"/>
          <p:nvPr/>
        </p:nvSpPr>
        <p:spPr>
          <a:xfrm>
            <a:off x="7909560" y="1947672"/>
            <a:ext cx="3474720" cy="1737360"/>
          </a:xfrm>
          <a:prstGeom prst="rect">
            <a:avLst/>
          </a:prstGeom>
          <a:noFill/>
          <a:ln/>
        </p:spPr>
        <p:txBody>
          <a:bodyPr wrap="square" lIns="0" tIns="0" rIns="0" bIns="0" rtlCol="0" anchor="t"/>
          <a:lstStyle/>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The win is mostly a fixed startup cost of about 0.7 s, which is a bigger fraction of a shorter run.</a:t>
            </a:r>
            <a:endParaRPr lang="en-US" sz="1000" dirty="0"/>
          </a:p>
          <a:p>
            <a:pPr algn="l" indent="0" marL="0">
              <a:lnSpc>
                <a:spcPct val="116000"/>
              </a:lnSpc>
              <a:buNone/>
            </a:pPr>
            <a:endParaRPr lang="en-US" sz="1000" dirty="0"/>
          </a:p>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And the plans grow from 7.9 to 31.5 MB, so part of the deeper engine's own cost is deserialising a larger file. On the TensorRT path the knob saves time partly by loading less model — a mechanism that does not exist in PyTorch at all.</a:t>
            </a:r>
            <a:endParaRPr lang="en-US" sz="1000" dirty="0"/>
          </a:p>
        </p:txBody>
      </p:sp>
      <p:sp>
        <p:nvSpPr>
          <p:cNvPr id="15" name="Shape 12"/>
          <p:cNvSpPr/>
          <p:nvPr/>
        </p:nvSpPr>
        <p:spPr>
          <a:xfrm>
            <a:off x="7635240" y="3931920"/>
            <a:ext cx="3977640" cy="2103120"/>
          </a:xfrm>
          <a:prstGeom prst="roundRect">
            <a:avLst>
              <a:gd name="adj" fmla="val 1739"/>
            </a:avLst>
          </a:prstGeom>
          <a:solidFill>
            <a:srgbClr val="FFFFFF"/>
          </a:solidFill>
          <a:ln w="9525">
            <a:solidFill>
              <a:srgbClr val="DDE2E7"/>
            </a:solidFill>
            <a:prstDash val="solid"/>
          </a:ln>
        </p:spPr>
      </p:sp>
      <p:sp>
        <p:nvSpPr>
          <p:cNvPr id="16" name="Text 13"/>
          <p:cNvSpPr txBox="1"/>
          <p:nvPr/>
        </p:nvSpPr>
        <p:spPr>
          <a:xfrm>
            <a:off x="7909560" y="413308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BUILT TO BE PORTABLE</a:t>
            </a:r>
            <a:endParaRPr lang="en-US" sz="950" dirty="0"/>
          </a:p>
        </p:txBody>
      </p:sp>
      <p:sp>
        <p:nvSpPr>
          <p:cNvPr id="17" name="Text 14"/>
          <p:cNvSpPr txBox="1"/>
          <p:nvPr/>
        </p:nvSpPr>
        <p:spPr>
          <a:xfrm>
            <a:off x="7909560" y="4416552"/>
            <a:ext cx="3474720" cy="150876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HardwareCompatibilityLevel.AMPERE_PLUS — the plans deserialise on any sm_80+ GPU, not only the one that built them. Batch 1–64, any size from 32 to 512 px, square or not, mixed sizes in one folder.</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All five build in 145 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An Engine Is Machine Code, Not a Model File</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A .plan is compiled SASS for one GPU family, tuned by one TensorRT version, for one set of weights. Ship the wrong pairing and it either refuses to load or — worse — loads and is wrong.</a:t>
            </a:r>
            <a:endParaRPr lang="en-US" sz="1150" dirty="0"/>
          </a:p>
        </p:txBody>
      </p:sp>
      <p:sp>
        <p:nvSpPr>
          <p:cNvPr id="4" name="Shape 2"/>
          <p:cNvSpPr/>
          <p:nvPr/>
        </p:nvSpPr>
        <p:spPr>
          <a:xfrm>
            <a:off x="548640" y="1463040"/>
            <a:ext cx="6949440" cy="1691640"/>
          </a:xfrm>
          <a:prstGeom prst="roundRect">
            <a:avLst>
              <a:gd name="adj" fmla="val 2162"/>
            </a:avLst>
          </a:prstGeom>
          <a:solidFill>
            <a:srgbClr val="ECEFF2"/>
          </a:solidFill>
          <a:ln w="9525">
            <a:solidFill>
              <a:srgbClr val="DDE2E7"/>
            </a:solidFill>
            <a:prstDash val="solid"/>
          </a:ln>
        </p:spPr>
      </p:sp>
      <p:sp>
        <p:nvSpPr>
          <p:cNvPr id="5" name="Text 3"/>
          <p:cNvSpPr txBox="1"/>
          <p:nvPr/>
        </p:nvSpPr>
        <p:spPr>
          <a:xfrm>
            <a:off x="822960" y="1645920"/>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THREE THINGS A PLAN IS WELDED TO</a:t>
            </a:r>
            <a:endParaRPr lang="en-US" sz="950" dirty="0"/>
          </a:p>
        </p:txBody>
      </p:sp>
      <p:sp>
        <p:nvSpPr>
          <p:cNvPr id="6" name="Text 4"/>
          <p:cNvSpPr txBox="1"/>
          <p:nvPr/>
        </p:nvSpPr>
        <p:spPr>
          <a:xfrm>
            <a:off x="822960" y="1938528"/>
            <a:ext cx="6400800" cy="1097280"/>
          </a:xfrm>
          <a:prstGeom prst="rect">
            <a:avLst/>
          </a:prstGeom>
          <a:noFill/>
          <a:ln/>
        </p:spPr>
        <p:txBody>
          <a:bodyPr wrap="square" lIns="0" tIns="0" rIns="0" bIns="0" rtlCol="0" anchor="t"/>
          <a:lstStyle/>
          <a:p>
            <a:pPr marL="152400" indent="-152400">
              <a:lnSpc>
                <a:spcPct val="115000"/>
              </a:lnSpc>
              <a:spcAft>
                <a:spcPts val="400"/>
              </a:spcAft>
              <a:buSzPct val="100000"/>
              <a:buChar char="•"/>
            </a:pPr>
            <a:r>
              <a:rPr lang="en-US" sz="1050" dirty="0">
                <a:solidFill>
                  <a:srgbClr val="23282E"/>
                </a:solidFill>
                <a:latin typeface="Calibri" pitchFamily="34" charset="0"/>
                <a:ea typeface="Calibri" pitchFamily="34" charset="-122"/>
                <a:cs typeface="Calibri" pitchFamily="34" charset="-120"/>
              </a:rPr>
              <a:t>The GPU architecture — relaxed to sm_80 and newer with AMPERE_PLUS, not removed</a:t>
            </a:r>
            <a:endParaRPr lang="en-US" sz="1050" dirty="0"/>
          </a:p>
          <a:p>
            <a:pPr marL="152400" indent="-152400">
              <a:lnSpc>
                <a:spcPct val="115000"/>
              </a:lnSpc>
              <a:spcAft>
                <a:spcPts val="400"/>
              </a:spcAft>
              <a:buSzPct val="100000"/>
              <a:buChar char="•"/>
            </a:pPr>
            <a:r>
              <a:rPr lang="en-US" sz="1050" dirty="0">
                <a:solidFill>
                  <a:srgbClr val="23282E"/>
                </a:solidFill>
                <a:latin typeface="Calibri" pitchFamily="34" charset="0"/>
                <a:ea typeface="Calibri" pitchFamily="34" charset="-122"/>
                <a:cs typeface="Calibri" pitchFamily="34" charset="-120"/>
              </a:rPr>
              <a:t>The TensorRT version — 11.3.0.99, because tactic identifiers are version-local</a:t>
            </a:r>
            <a:endParaRPr lang="en-US" sz="1050" dirty="0"/>
          </a:p>
          <a:p>
            <a:pPr marL="152400" indent="-152400">
              <a:lnSpc>
                <a:spcPct val="115000"/>
              </a:lnSpc>
              <a:spcAft>
                <a:spcPts val="400"/>
              </a:spcAft>
              <a:buSzPct val="100000"/>
              <a:buChar char="•"/>
            </a:pPr>
            <a:r>
              <a:rPr lang="en-US" sz="1050" dirty="0">
                <a:solidFill>
                  <a:srgbClr val="23282E"/>
                </a:solidFill>
                <a:latin typeface="Calibri" pitchFamily="34" charset="0"/>
                <a:ea typeface="Calibri" pitchFamily="34" charset="-122"/>
                <a:cs typeface="Calibri" pitchFamily="34" charset="-120"/>
              </a:rPr>
              <a:t>The exact checkpoint — recorded as a SHA-1, and checked on every single run</a:t>
            </a:r>
            <a:endParaRPr lang="en-US" sz="1050" dirty="0"/>
          </a:p>
        </p:txBody>
      </p:sp>
      <p:sp>
        <p:nvSpPr>
          <p:cNvPr id="7" name="Shape 5"/>
          <p:cNvSpPr/>
          <p:nvPr/>
        </p:nvSpPr>
        <p:spPr>
          <a:xfrm>
            <a:off x="548640" y="3291840"/>
            <a:ext cx="6949440" cy="1371600"/>
          </a:xfrm>
          <a:prstGeom prst="roundRect">
            <a:avLst>
              <a:gd name="adj" fmla="val 2667"/>
            </a:avLst>
          </a:prstGeom>
          <a:solidFill>
            <a:srgbClr val="FBF2EC"/>
          </a:solidFill>
          <a:ln w="9525">
            <a:solidFill>
              <a:srgbClr val="E3A574"/>
            </a:solidFill>
            <a:prstDash val="solid"/>
          </a:ln>
        </p:spPr>
      </p:sp>
      <p:sp>
        <p:nvSpPr>
          <p:cNvPr id="8" name="Text 6"/>
          <p:cNvSpPr txBox="1"/>
          <p:nvPr/>
        </p:nvSpPr>
        <p:spPr>
          <a:xfrm>
            <a:off x="822960" y="3474720"/>
            <a:ext cx="640080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THE TRAP THIS SET FOR US</a:t>
            </a:r>
            <a:endParaRPr lang="en-US" sz="950" dirty="0"/>
          </a:p>
        </p:txBody>
      </p:sp>
      <p:sp>
        <p:nvSpPr>
          <p:cNvPr id="9" name="Text 7"/>
          <p:cNvSpPr txBox="1"/>
          <p:nvPr/>
        </p:nvSpPr>
        <p:spPr>
          <a:xfrm>
            <a:off x="822960" y="3749040"/>
            <a:ext cx="6400800" cy="82296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Our deployment script strips a checkpoint to {state_dict, config} on the way in. The weights are untouched — but the file's SHA-1 changes. So a correctly deployed model failed its own engine's identity check, and TensorRT would have silently fallen back to PyTorch on every run, with no error anywhere.</a:t>
            </a:r>
            <a:endParaRPr lang="en-US" sz="1050" dirty="0"/>
          </a:p>
        </p:txBody>
      </p:sp>
      <p:sp>
        <p:nvSpPr>
          <p:cNvPr id="10" name="Shape 8"/>
          <p:cNvSpPr/>
          <p:nvPr/>
        </p:nvSpPr>
        <p:spPr>
          <a:xfrm>
            <a:off x="548640" y="4800600"/>
            <a:ext cx="6949440" cy="1234440"/>
          </a:xfrm>
          <a:prstGeom prst="roundRect">
            <a:avLst>
              <a:gd name="adj" fmla="val 2963"/>
            </a:avLst>
          </a:prstGeom>
          <a:solidFill>
            <a:srgbClr val="FFFFFF"/>
          </a:solidFill>
          <a:ln w="9525">
            <a:solidFill>
              <a:srgbClr val="DDE2E7"/>
            </a:solidFill>
            <a:prstDash val="solid"/>
          </a:ln>
        </p:spPr>
      </p:sp>
      <p:sp>
        <p:nvSpPr>
          <p:cNvPr id="11" name="Text 9"/>
          <p:cNvSpPr txBox="1"/>
          <p:nvPr/>
        </p:nvSpPr>
        <p:spPr>
          <a:xfrm>
            <a:off x="822960" y="4965192"/>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THE FIX IS A PROOF, NOT A RELABELLING</a:t>
            </a:r>
            <a:endParaRPr lang="en-US" sz="950" dirty="0"/>
          </a:p>
        </p:txBody>
      </p:sp>
      <p:sp>
        <p:nvSpPr>
          <p:cNvPr id="12" name="Text 10"/>
          <p:cNvSpPr txBox="1"/>
          <p:nvPr/>
        </p:nvSpPr>
        <p:spPr>
          <a:xfrm>
            <a:off x="822960" y="5239512"/>
            <a:ext cx="6400800" cy="73152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tools/bless_engines.py finds the training checkpoint on disk by its hash and compares state dictionaries tensor by tensor, bytes included — 104 tensors, no tolerance — before it re-keys anything. It only loosens the identity check after proving the weights are the same weights.</a:t>
            </a:r>
            <a:endParaRPr lang="en-US" sz="1050" dirty="0"/>
          </a:p>
        </p:txBody>
      </p:sp>
      <p:sp>
        <p:nvSpPr>
          <p:cNvPr id="13" name="Shape 11"/>
          <p:cNvSpPr/>
          <p:nvPr/>
        </p:nvSpPr>
        <p:spPr>
          <a:xfrm>
            <a:off x="7635240" y="1463040"/>
            <a:ext cx="3977640" cy="2377440"/>
          </a:xfrm>
          <a:prstGeom prst="roundRect">
            <a:avLst>
              <a:gd name="adj" fmla="val 1538"/>
            </a:avLst>
          </a:prstGeom>
          <a:solidFill>
            <a:srgbClr val="FFFFFF"/>
          </a:solidFill>
          <a:ln w="9525">
            <a:solidFill>
              <a:srgbClr val="DDE2E7"/>
            </a:solidFill>
            <a:prstDash val="solid"/>
          </a:ln>
        </p:spPr>
      </p:sp>
      <p:sp>
        <p:nvSpPr>
          <p:cNvPr id="14" name="Text 12"/>
          <p:cNvSpPr txBox="1"/>
          <p:nvPr/>
        </p:nvSpPr>
        <p:spPr>
          <a:xfrm>
            <a:off x="7909560" y="166420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WE TESTED THAT IT REFUSES</a:t>
            </a:r>
            <a:endParaRPr lang="en-US" sz="950" dirty="0"/>
          </a:p>
        </p:txBody>
      </p:sp>
      <p:sp>
        <p:nvSpPr>
          <p:cNvPr id="15" name="Text 13"/>
          <p:cNvSpPr txBox="1"/>
          <p:nvPr/>
        </p:nvSpPr>
        <p:spPr>
          <a:xfrm>
            <a:off x="7909560" y="2011680"/>
            <a:ext cx="2514600" cy="27432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stripped container, same weights</a:t>
            </a:r>
            <a:endParaRPr lang="en-US" sz="1000" dirty="0"/>
          </a:p>
        </p:txBody>
      </p:sp>
      <p:sp>
        <p:nvSpPr>
          <p:cNvPr id="16" name="Text 14"/>
          <p:cNvSpPr txBox="1"/>
          <p:nvPr/>
        </p:nvSpPr>
        <p:spPr>
          <a:xfrm>
            <a:off x="10469880" y="2011680"/>
            <a:ext cx="868680" cy="274320"/>
          </a:xfrm>
          <a:prstGeom prst="rect">
            <a:avLst/>
          </a:prstGeom>
          <a:noFill/>
          <a:ln/>
        </p:spPr>
        <p:txBody>
          <a:bodyPr wrap="square" lIns="0" tIns="0" rIns="0" bIns="0" rtlCol="0" anchor="t"/>
          <a:lstStyle/>
          <a:p>
            <a:pPr algn="r" indent="0" marL="0">
              <a:lnSpc>
                <a:spcPct val="118000"/>
              </a:lnSpc>
              <a:buNone/>
            </a:pPr>
            <a:r>
              <a:rPr lang="en-US" sz="1000" b="1" dirty="0">
                <a:solidFill>
                  <a:srgbClr val="3E7C59"/>
                </a:solidFill>
                <a:latin typeface="Calibri" pitchFamily="34" charset="0"/>
                <a:ea typeface="Calibri" pitchFamily="34" charset="-122"/>
                <a:cs typeface="Calibri" pitchFamily="34" charset="-120"/>
              </a:rPr>
              <a:t>MATCH</a:t>
            </a:r>
            <a:endParaRPr lang="en-US" sz="1000" dirty="0"/>
          </a:p>
        </p:txBody>
      </p:sp>
      <p:sp>
        <p:nvSpPr>
          <p:cNvPr id="17" name="Text 15"/>
          <p:cNvSpPr txBox="1"/>
          <p:nvPr/>
        </p:nvSpPr>
        <p:spPr>
          <a:xfrm>
            <a:off x="7909560" y="2395728"/>
            <a:ext cx="2514600" cy="27432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re-run after re-keying</a:t>
            </a:r>
            <a:endParaRPr lang="en-US" sz="1000" dirty="0"/>
          </a:p>
        </p:txBody>
      </p:sp>
      <p:sp>
        <p:nvSpPr>
          <p:cNvPr id="18" name="Text 16"/>
          <p:cNvSpPr txBox="1"/>
          <p:nvPr/>
        </p:nvSpPr>
        <p:spPr>
          <a:xfrm>
            <a:off x="10469880" y="2395728"/>
            <a:ext cx="868680" cy="274320"/>
          </a:xfrm>
          <a:prstGeom prst="rect">
            <a:avLst/>
          </a:prstGeom>
          <a:noFill/>
          <a:ln/>
        </p:spPr>
        <p:txBody>
          <a:bodyPr wrap="square" lIns="0" tIns="0" rIns="0" bIns="0" rtlCol="0" anchor="t"/>
          <a:lstStyle/>
          <a:p>
            <a:pPr algn="r" indent="0" marL="0">
              <a:lnSpc>
                <a:spcPct val="118000"/>
              </a:lnSpc>
              <a:buNone/>
            </a:pPr>
            <a:r>
              <a:rPr lang="en-US" sz="1000" b="1" dirty="0">
                <a:solidFill>
                  <a:srgbClr val="4A5560"/>
                </a:solidFill>
                <a:latin typeface="Calibri" pitchFamily="34" charset="0"/>
                <a:ea typeface="Calibri" pitchFamily="34" charset="-122"/>
                <a:cs typeface="Calibri" pitchFamily="34" charset="-120"/>
              </a:rPr>
              <a:t>no-op</a:t>
            </a:r>
            <a:endParaRPr lang="en-US" sz="1000" dirty="0"/>
          </a:p>
        </p:txBody>
      </p:sp>
      <p:sp>
        <p:nvSpPr>
          <p:cNvPr id="19" name="Text 17"/>
          <p:cNvSpPr txBox="1"/>
          <p:nvPr/>
        </p:nvSpPr>
        <p:spPr>
          <a:xfrm>
            <a:off x="7909560" y="2779776"/>
            <a:ext cx="2514600" cy="27432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one weight moved by 1e−7</a:t>
            </a:r>
            <a:endParaRPr lang="en-US" sz="1000" dirty="0"/>
          </a:p>
        </p:txBody>
      </p:sp>
      <p:sp>
        <p:nvSpPr>
          <p:cNvPr id="20" name="Text 18"/>
          <p:cNvSpPr txBox="1"/>
          <p:nvPr/>
        </p:nvSpPr>
        <p:spPr>
          <a:xfrm>
            <a:off x="10469880" y="2779776"/>
            <a:ext cx="868680" cy="274320"/>
          </a:xfrm>
          <a:prstGeom prst="rect">
            <a:avLst/>
          </a:prstGeom>
          <a:noFill/>
          <a:ln/>
        </p:spPr>
        <p:txBody>
          <a:bodyPr wrap="square" lIns="0" tIns="0" rIns="0" bIns="0" rtlCol="0" anchor="t"/>
          <a:lstStyle/>
          <a:p>
            <a:pPr algn="r" indent="0" marL="0">
              <a:lnSpc>
                <a:spcPct val="118000"/>
              </a:lnSpc>
              <a:buNone/>
            </a:pPr>
            <a:r>
              <a:rPr lang="en-US" sz="1000" b="1" dirty="0">
                <a:solidFill>
                  <a:srgbClr val="9A3B34"/>
                </a:solidFill>
                <a:latin typeface="Calibri" pitchFamily="34" charset="0"/>
                <a:ea typeface="Calibri" pitchFamily="34" charset="-122"/>
                <a:cs typeface="Calibri" pitchFamily="34" charset="-120"/>
              </a:rPr>
              <a:t>REFUSED</a:t>
            </a:r>
            <a:endParaRPr lang="en-US" sz="1000" dirty="0"/>
          </a:p>
        </p:txBody>
      </p:sp>
      <p:sp>
        <p:nvSpPr>
          <p:cNvPr id="21" name="Text 19"/>
          <p:cNvSpPr txBox="1"/>
          <p:nvPr/>
        </p:nvSpPr>
        <p:spPr>
          <a:xfrm>
            <a:off x="7909560" y="3163824"/>
            <a:ext cx="2514600" cy="27432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a different checkpoint entirely</a:t>
            </a:r>
            <a:endParaRPr lang="en-US" sz="1000" dirty="0"/>
          </a:p>
        </p:txBody>
      </p:sp>
      <p:sp>
        <p:nvSpPr>
          <p:cNvPr id="22" name="Text 20"/>
          <p:cNvSpPr txBox="1"/>
          <p:nvPr/>
        </p:nvSpPr>
        <p:spPr>
          <a:xfrm>
            <a:off x="10469880" y="3163824"/>
            <a:ext cx="868680" cy="274320"/>
          </a:xfrm>
          <a:prstGeom prst="rect">
            <a:avLst/>
          </a:prstGeom>
          <a:noFill/>
          <a:ln/>
        </p:spPr>
        <p:txBody>
          <a:bodyPr wrap="square" lIns="0" tIns="0" rIns="0" bIns="0" rtlCol="0" anchor="t"/>
          <a:lstStyle/>
          <a:p>
            <a:pPr algn="r" indent="0" marL="0">
              <a:lnSpc>
                <a:spcPct val="118000"/>
              </a:lnSpc>
              <a:buNone/>
            </a:pPr>
            <a:r>
              <a:rPr lang="en-US" sz="1000" b="1" dirty="0">
                <a:solidFill>
                  <a:srgbClr val="9A3B34"/>
                </a:solidFill>
                <a:latin typeface="Calibri" pitchFamily="34" charset="0"/>
                <a:ea typeface="Calibri" pitchFamily="34" charset="-122"/>
                <a:cs typeface="Calibri" pitchFamily="34" charset="-120"/>
              </a:rPr>
              <a:t>REFUSED</a:t>
            </a:r>
            <a:endParaRPr lang="en-US" sz="1000" dirty="0"/>
          </a:p>
        </p:txBody>
      </p:sp>
      <p:sp>
        <p:nvSpPr>
          <p:cNvPr id="23" name="Text 21"/>
          <p:cNvSpPr txBox="1"/>
          <p:nvPr/>
        </p:nvSpPr>
        <p:spPr>
          <a:xfrm>
            <a:off x="7909560" y="3611880"/>
            <a:ext cx="3474720" cy="274320"/>
          </a:xfrm>
          <a:prstGeom prst="rect">
            <a:avLst/>
          </a:prstGeom>
          <a:noFill/>
          <a:ln/>
        </p:spPr>
        <p:txBody>
          <a:bodyPr wrap="square" lIns="0" tIns="0" rIns="0" bIns="0" rtlCol="0" anchor="t"/>
          <a:lstStyle/>
          <a:p>
            <a:pPr algn="l" indent="0" marL="0">
              <a:lnSpc>
                <a:spcPct val="118000"/>
              </a:lnSpc>
              <a:buNone/>
            </a:pPr>
            <a:r>
              <a:rPr lang="en-US" sz="950" i="1" dirty="0">
                <a:solidFill>
                  <a:srgbClr val="7C8895"/>
                </a:solidFill>
                <a:latin typeface="Calibri" pitchFamily="34" charset="0"/>
                <a:ea typeface="Calibri" pitchFamily="34" charset="-122"/>
                <a:cs typeface="Calibri" pitchFamily="34" charset="-120"/>
              </a:rPr>
              <a:t>It names the offending tensor: body.1.norm.b differs.</a:t>
            </a:r>
            <a:endParaRPr lang="en-US" sz="950" dirty="0"/>
          </a:p>
        </p:txBody>
      </p:sp>
      <p:sp>
        <p:nvSpPr>
          <p:cNvPr id="24" name="Shape 22"/>
          <p:cNvSpPr/>
          <p:nvPr/>
        </p:nvSpPr>
        <p:spPr>
          <a:xfrm>
            <a:off x="7635240" y="3977640"/>
            <a:ext cx="3977640" cy="2057400"/>
          </a:xfrm>
          <a:prstGeom prst="roundRect">
            <a:avLst>
              <a:gd name="adj" fmla="val 1778"/>
            </a:avLst>
          </a:prstGeom>
          <a:solidFill>
            <a:srgbClr val="ECEFF2"/>
          </a:solidFill>
          <a:ln w="9525">
            <a:solidFill>
              <a:srgbClr val="DDE2E7"/>
            </a:solidFill>
            <a:prstDash val="solid"/>
          </a:ln>
        </p:spPr>
      </p:sp>
      <p:sp>
        <p:nvSpPr>
          <p:cNvPr id="25" name="Text 23"/>
          <p:cNvSpPr txBox="1"/>
          <p:nvPr/>
        </p:nvSpPr>
        <p:spPr>
          <a:xfrm>
            <a:off x="7909560" y="417880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SO THE ENGINES ARE NOT IN THE REPOSITORY</a:t>
            </a:r>
            <a:endParaRPr lang="en-US" sz="950" dirty="0"/>
          </a:p>
        </p:txBody>
      </p:sp>
      <p:sp>
        <p:nvSpPr>
          <p:cNvPr id="26" name="Text 24"/>
          <p:cNvSpPr txBox="1"/>
          <p:nvPr/>
        </p:nvSpPr>
        <p:spPr>
          <a:xfrm>
            <a:off x="7909560" y="4462272"/>
            <a:ext cx="3474720" cy="146304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99 MB of machine code, valid for one driver stack, is a build artefact. The builder, the metadata and the index are committed; the binaries are shipped alongside.</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A fresh clone runs correctly on PyTorch and rebuilds all five engines in 145 seconds.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The Fallback Is the Feature</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The decision has to be made before torch is imported, or probing costs the entire saving. So the entry point imports numpy, reads .npy headers — never pixels — and replaces its own process with the right runner.</a:t>
            </a:r>
            <a:endParaRPr lang="en-US" sz="1150" dirty="0"/>
          </a:p>
        </p:txBody>
      </p:sp>
      <p:sp>
        <p:nvSpPr>
          <p:cNvPr id="4" name="Shape 2"/>
          <p:cNvSpPr/>
          <p:nvPr/>
        </p:nvSpPr>
        <p:spPr>
          <a:xfrm>
            <a:off x="548640" y="1463040"/>
            <a:ext cx="6949440" cy="1051560"/>
          </a:xfrm>
          <a:prstGeom prst="roundRect">
            <a:avLst>
              <a:gd name="adj" fmla="val 3478"/>
            </a:avLst>
          </a:prstGeom>
          <a:solidFill>
            <a:srgbClr val="ECEFF2"/>
          </a:solidFill>
          <a:ln w="9525">
            <a:solidFill>
              <a:srgbClr val="DDE2E7"/>
            </a:solidFill>
            <a:prstDash val="solid"/>
          </a:ln>
        </p:spPr>
      </p:sp>
      <p:sp>
        <p:nvSpPr>
          <p:cNvPr id="5" name="Text 3"/>
          <p:cNvSpPr txBox="1"/>
          <p:nvPr/>
        </p:nvSpPr>
        <p:spPr>
          <a:xfrm>
            <a:off x="777240" y="1591056"/>
            <a:ext cx="6537960" cy="841248"/>
          </a:xfrm>
          <a:prstGeom prst="rect">
            <a:avLst/>
          </a:prstGeom>
          <a:noFill/>
          <a:ln/>
        </p:spPr>
        <p:txBody>
          <a:bodyPr wrap="square" lIns="0" tIns="0" rIns="0" bIns="0" rtlCol="0" anchor="t"/>
          <a:lstStyle/>
          <a:p>
            <a:pPr algn="l" indent="0" marL="0">
              <a:lnSpc>
                <a:spcPct val="130000"/>
              </a:lnSpc>
              <a:buNone/>
            </a:pPr>
            <a:r>
              <a:rPr lang="en-US" sz="900" dirty="0">
                <a:solidFill>
                  <a:srgbClr val="23282E"/>
                </a:solidFill>
                <a:latin typeface="Consolas" pitchFamily="34" charset="0"/>
                <a:ea typeface="Consolas" pitchFamily="34" charset="-122"/>
                <a:cs typeface="Consolas" pitchFamily="34" charset="-120"/>
              </a:rPr>
              <a:t>run_fast.py  →  reads .npy headers (0.12 s)  →  os.execv</a:t>
            </a:r>
            <a:endParaRPr lang="en-US" sz="900" dirty="0"/>
          </a:p>
          <a:p>
            <a:pPr algn="l" indent="0" marL="0">
              <a:lnSpc>
                <a:spcPct val="130000"/>
              </a:lnSpc>
              <a:buNone/>
            </a:pPr>
            <a:r>
              <a:rPr lang="en-US" sz="900" dirty="0">
                <a:solidFill>
                  <a:srgbClr val="23282E"/>
                </a:solidFill>
                <a:latin typeface="Consolas" pitchFamily="34" charset="0"/>
                <a:ea typeface="Consolas" pitchFamily="34" charset="-122"/>
                <a:cs typeface="Consolas" pitchFamily="34" charset="-120"/>
              </a:rPr>
              <a:t>      ├→  tools/trt_infer.py   TensorRT, torch never imported</a:t>
            </a:r>
            <a:endParaRPr lang="en-US" sz="900" dirty="0"/>
          </a:p>
          <a:p>
            <a:pPr algn="l" indent="0" marL="0">
              <a:lnSpc>
                <a:spcPct val="130000"/>
              </a:lnSpc>
              <a:buNone/>
            </a:pPr>
            <a:r>
              <a:rPr lang="en-US" sz="900" dirty="0">
                <a:solidFill>
                  <a:srgbClr val="23282E"/>
                </a:solidFill>
                <a:latin typeface="Consolas" pitchFamily="34" charset="0"/>
                <a:ea typeface="Consolas" pitchFamily="34" charset="-122"/>
                <a:cs typeface="Consolas" pitchFamily="34" charset="-120"/>
              </a:rPr>
              <a:t>      └→  run.py               PyTorch, unchanged, 12/12 stress</a:t>
            </a:r>
            <a:endParaRPr lang="en-US" sz="900" dirty="0"/>
          </a:p>
        </p:txBody>
      </p:sp>
      <p:sp>
        <p:nvSpPr>
          <p:cNvPr id="6" name="Shape 4"/>
          <p:cNvSpPr/>
          <p:nvPr/>
        </p:nvSpPr>
        <p:spPr>
          <a:xfrm>
            <a:off x="548640" y="2651760"/>
            <a:ext cx="6949440" cy="3383280"/>
          </a:xfrm>
          <a:prstGeom prst="roundRect">
            <a:avLst>
              <a:gd name="adj" fmla="val 1081"/>
            </a:avLst>
          </a:prstGeom>
          <a:solidFill>
            <a:srgbClr val="FFFFFF"/>
          </a:solidFill>
          <a:ln w="9525">
            <a:solidFill>
              <a:srgbClr val="DDE2E7"/>
            </a:solidFill>
            <a:prstDash val="solid"/>
          </a:ln>
        </p:spPr>
      </p:sp>
      <p:sp>
        <p:nvSpPr>
          <p:cNvPr id="7" name="Text 5"/>
          <p:cNvSpPr txBox="1"/>
          <p:nvPr/>
        </p:nvSpPr>
        <p:spPr>
          <a:xfrm>
            <a:off x="822960" y="2834640"/>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FIFTEEN CONDITIONS THAT HAND THE RUN BACK TO PYTORCH</a:t>
            </a:r>
            <a:endParaRPr lang="en-US" sz="950" dirty="0"/>
          </a:p>
        </p:txBody>
      </p:sp>
      <p:sp>
        <p:nvSpPr>
          <p:cNvPr id="8" name="Text 6"/>
          <p:cNvSpPr txBox="1"/>
          <p:nvPr/>
        </p:nvSpPr>
        <p:spPr>
          <a:xfrm>
            <a:off x="822960" y="3154680"/>
            <a:ext cx="6400800" cy="2743200"/>
          </a:xfrm>
          <a:prstGeom prst="rect">
            <a:avLst/>
          </a:prstGeom>
          <a:noFill/>
          <a:ln/>
        </p:spPr>
        <p:txBody>
          <a:bodyPr wrap="square" lIns="0" tIns="0" rIns="0" bIns="0" rtlCol="0" anchor="t"/>
          <a:lstStyle/>
          <a:p>
            <a:pPr marL="152400" indent="-152400">
              <a:lnSpc>
                <a:spcPct val="115000"/>
              </a:lnSpc>
              <a:spcAft>
                <a:spcPts val="600"/>
              </a:spcAft>
              <a:buSzPct val="100000"/>
              <a:buChar char="•"/>
            </a:pPr>
            <a:r>
              <a:rPr lang="en-US" sz="1050" dirty="0">
                <a:solidFill>
                  <a:srgbClr val="23282E"/>
                </a:solidFill>
                <a:latin typeface="Calibri" pitchFamily="34" charset="0"/>
                <a:ea typeface="Calibri" pitchFamily="34" charset="-122"/>
                <a:cs typeface="Calibri" pitchFamily="34" charset="-120"/>
              </a:rPr>
              <a:t>TensorRT or cuda-python not installed</a:t>
            </a:r>
            <a:endParaRPr lang="en-US" sz="1050" dirty="0"/>
          </a:p>
          <a:p>
            <a:pPr marL="152400" indent="-152400">
              <a:lnSpc>
                <a:spcPct val="115000"/>
              </a:lnSpc>
              <a:spcAft>
                <a:spcPts val="600"/>
              </a:spcAft>
              <a:buSzPct val="100000"/>
              <a:buChar char="•"/>
            </a:pPr>
            <a:r>
              <a:rPr lang="en-US" sz="1050" dirty="0">
                <a:solidFill>
                  <a:srgbClr val="23282E"/>
                </a:solidFill>
                <a:latin typeface="Calibri" pitchFamily="34" charset="0"/>
                <a:ea typeface="Calibri" pitchFamily="34" charset="-122"/>
                <a:cs typeface="Calibri" pitchFamily="34" charset="-120"/>
              </a:rPr>
              <a:t>no engine exists at the requested depth — the depth is honoured exactly, never substituted</a:t>
            </a:r>
            <a:endParaRPr lang="en-US" sz="1050" dirty="0"/>
          </a:p>
          <a:p>
            <a:pPr marL="152400" indent="-152400">
              <a:lnSpc>
                <a:spcPct val="115000"/>
              </a:lnSpc>
              <a:spcAft>
                <a:spcPts val="600"/>
              </a:spcAft>
              <a:buSzPct val="100000"/>
              <a:buChar char="•"/>
            </a:pPr>
            <a:r>
              <a:rPr lang="en-US" sz="1050" dirty="0">
                <a:solidFill>
                  <a:srgbClr val="23282E"/>
                </a:solidFill>
                <a:latin typeface="Calibri" pitchFamily="34" charset="0"/>
                <a:ea typeface="Calibri" pitchFamily="34" charset="-122"/>
                <a:cs typeface="Calibri" pitchFamily="34" charset="-120"/>
              </a:rPr>
              <a:t>models/model.pt does not match the engine's recorded checkpoint hash</a:t>
            </a:r>
            <a:endParaRPr lang="en-US" sz="1050" dirty="0"/>
          </a:p>
          <a:p>
            <a:pPr marL="152400" indent="-152400">
              <a:lnSpc>
                <a:spcPct val="115000"/>
              </a:lnSpc>
              <a:spcAft>
                <a:spcPts val="600"/>
              </a:spcAft>
              <a:buSzPct val="100000"/>
              <a:buChar char="•"/>
            </a:pPr>
            <a:r>
              <a:rPr lang="en-US" sz="1050" dirty="0">
                <a:solidFill>
                  <a:srgbClr val="23282E"/>
                </a:solidFill>
                <a:latin typeface="Calibri" pitchFamily="34" charset="0"/>
                <a:ea typeface="Calibri" pitchFamily="34" charset="-122"/>
                <a:cs typeface="Calibri" pitchFamily="34" charset="-120"/>
              </a:rPr>
              <a:t>an input lies outside the engine's shape profile — checked from headers, before any pixel is read</a:t>
            </a:r>
            <a:endParaRPr lang="en-US" sz="1050" dirty="0"/>
          </a:p>
          <a:p>
            <a:pPr marL="152400" indent="-152400">
              <a:lnSpc>
                <a:spcPct val="115000"/>
              </a:lnSpc>
              <a:spcAft>
                <a:spcPts val="600"/>
              </a:spcAft>
              <a:buSzPct val="100000"/>
              <a:buChar char="•"/>
            </a:pPr>
            <a:r>
              <a:rPr lang="en-US" sz="1050" dirty="0">
                <a:solidFill>
                  <a:srgbClr val="23282E"/>
                </a:solidFill>
                <a:latin typeface="Calibri" pitchFamily="34" charset="0"/>
                <a:ea typeface="Calibri" pitchFamily="34" charset="-122"/>
                <a:cs typeface="Calibri" pitchFamily="34" charset="-120"/>
              </a:rPr>
              <a:t>the plan was built for another GPU family or another TensorRT version</a:t>
            </a:r>
            <a:endParaRPr lang="en-US" sz="1050" dirty="0"/>
          </a:p>
          <a:p>
            <a:pPr marL="152400" indent="-152400">
              <a:lnSpc>
                <a:spcPct val="115000"/>
              </a:lnSpc>
              <a:spcAft>
                <a:spcPts val="600"/>
              </a:spcAft>
              <a:buSzPct val="100000"/>
              <a:buChar char="•"/>
            </a:pPr>
            <a:r>
              <a:rPr lang="en-US" sz="1050" dirty="0">
                <a:solidFill>
                  <a:srgbClr val="23282E"/>
                </a:solidFill>
                <a:latin typeface="Calibri" pitchFamily="34" charset="0"/>
                <a:ea typeface="Calibri" pitchFamily="34" charset="-122"/>
                <a:cs typeface="Calibri" pitchFamily="34" charset="-120"/>
              </a:rPr>
              <a:t>--tta, --half, --device cpu, --profile, --list-knob, --no-trt</a:t>
            </a:r>
            <a:endParaRPr lang="en-US" sz="1050" dirty="0"/>
          </a:p>
          <a:p>
            <a:pPr marL="152400" indent="-152400">
              <a:lnSpc>
                <a:spcPct val="115000"/>
              </a:lnSpc>
              <a:spcAft>
                <a:spcPts val="600"/>
              </a:spcAft>
              <a:buSzPct val="100000"/>
              <a:buChar char="•"/>
            </a:pPr>
            <a:r>
              <a:rPr lang="en-US" sz="1050" dirty="0">
                <a:solidFill>
                  <a:srgbClr val="23282E"/>
                </a:solidFill>
                <a:latin typeface="Calibri" pitchFamily="34" charset="0"/>
                <a:ea typeface="Calibri" pitchFamily="34" charset="-122"/>
                <a:cs typeface="Calibri" pitchFamily="34" charset="-120"/>
              </a:rPr>
              <a:t>TensorRT throws at run time, before any output file has been written</a:t>
            </a:r>
            <a:endParaRPr lang="en-US" sz="1050" dirty="0"/>
          </a:p>
        </p:txBody>
      </p:sp>
      <p:sp>
        <p:nvSpPr>
          <p:cNvPr id="9" name="Shape 7"/>
          <p:cNvSpPr/>
          <p:nvPr/>
        </p:nvSpPr>
        <p:spPr>
          <a:xfrm>
            <a:off x="7635240" y="1463040"/>
            <a:ext cx="3977640" cy="2103120"/>
          </a:xfrm>
          <a:prstGeom prst="roundRect">
            <a:avLst>
              <a:gd name="adj" fmla="val 1739"/>
            </a:avLst>
          </a:prstGeom>
          <a:solidFill>
            <a:srgbClr val="FBF2EC"/>
          </a:solidFill>
          <a:ln w="9525">
            <a:solidFill>
              <a:srgbClr val="E3A574"/>
            </a:solidFill>
            <a:prstDash val="solid"/>
          </a:ln>
        </p:spPr>
      </p:sp>
      <p:sp>
        <p:nvSpPr>
          <p:cNvPr id="10" name="Text 8"/>
          <p:cNvSpPr txBox="1"/>
          <p:nvPr/>
        </p:nvSpPr>
        <p:spPr>
          <a:xfrm>
            <a:off x="7909560" y="166420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VERIFIED, NOT ASSERTED</a:t>
            </a:r>
            <a:endParaRPr lang="en-US" sz="950" dirty="0"/>
          </a:p>
        </p:txBody>
      </p:sp>
      <p:sp>
        <p:nvSpPr>
          <p:cNvPr id="11" name="Text 9"/>
          <p:cNvSpPr txBox="1"/>
          <p:nvPr/>
        </p:nvSpPr>
        <p:spPr>
          <a:xfrm>
            <a:off x="7909560" y="1947672"/>
            <a:ext cx="3474720" cy="150876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All 15 branches are exercised in test. On a deliberately corrupted plan, the run falls back mid-flight and produces output bit-identical to a direct PyTorch run — max difference 0.0 across all 297 files.</a:t>
            </a:r>
            <a:endParaRPr lang="en-US" sz="1000" dirty="0"/>
          </a:p>
        </p:txBody>
      </p:sp>
      <p:sp>
        <p:nvSpPr>
          <p:cNvPr id="12" name="Shape 10"/>
          <p:cNvSpPr/>
          <p:nvPr/>
        </p:nvSpPr>
        <p:spPr>
          <a:xfrm>
            <a:off x="7635240" y="3703320"/>
            <a:ext cx="3977640" cy="1234440"/>
          </a:xfrm>
          <a:prstGeom prst="roundRect">
            <a:avLst>
              <a:gd name="adj" fmla="val 2963"/>
            </a:avLst>
          </a:prstGeom>
          <a:solidFill>
            <a:srgbClr val="ECEFF2"/>
          </a:solidFill>
          <a:ln w="9525">
            <a:solidFill>
              <a:srgbClr val="DDE2E7"/>
            </a:solidFill>
            <a:prstDash val="solid"/>
          </a:ln>
        </p:spPr>
      </p:sp>
      <p:sp>
        <p:nvSpPr>
          <p:cNvPr id="13" name="Text 11"/>
          <p:cNvSpPr txBox="1"/>
          <p:nvPr/>
        </p:nvSpPr>
        <p:spPr>
          <a:xfrm>
            <a:off x="7909560" y="3867912"/>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COST OF BEING WRONG</a:t>
            </a:r>
            <a:endParaRPr lang="en-US" sz="950" dirty="0"/>
          </a:p>
        </p:txBody>
      </p:sp>
      <p:sp>
        <p:nvSpPr>
          <p:cNvPr id="14" name="Text 12"/>
          <p:cNvSpPr txBox="1"/>
          <p:nvPr/>
        </p:nvSpPr>
        <p:spPr>
          <a:xfrm>
            <a:off x="7909560" y="4114800"/>
            <a:ext cx="3474720" cy="502920"/>
          </a:xfrm>
          <a:prstGeom prst="rect">
            <a:avLst/>
          </a:prstGeom>
          <a:noFill/>
          <a:ln/>
        </p:spPr>
        <p:txBody>
          <a:bodyPr wrap="square" lIns="0" tIns="0" rIns="0" bIns="0" rtlCol="0" anchor="ctr"/>
          <a:lstStyle/>
          <a:p>
            <a:pPr indent="0" marL="0">
              <a:buNone/>
            </a:pPr>
            <a:r>
              <a:rPr lang="en-US" sz="2600" b="1" dirty="0">
                <a:solidFill>
                  <a:srgbClr val="3E7C59"/>
                </a:solidFill>
                <a:latin typeface="Cambria" pitchFamily="34" charset="0"/>
                <a:ea typeface="Cambria" pitchFamily="34" charset="-122"/>
                <a:cs typeface="Cambria" pitchFamily="34" charset="-120"/>
              </a:rPr>
              <a:t>0.12 s</a:t>
            </a:r>
            <a:endParaRPr lang="en-US" sz="2600" dirty="0"/>
          </a:p>
        </p:txBody>
      </p:sp>
      <p:sp>
        <p:nvSpPr>
          <p:cNvPr id="15" name="Text 13"/>
          <p:cNvSpPr txBox="1"/>
          <p:nvPr/>
        </p:nvSpPr>
        <p:spPr>
          <a:xfrm>
            <a:off x="7909560" y="4617720"/>
            <a:ext cx="347472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the header probe — never a wrong result</a:t>
            </a:r>
            <a:endParaRPr lang="en-US" sz="950" dirty="0"/>
          </a:p>
        </p:txBody>
      </p:sp>
      <p:sp>
        <p:nvSpPr>
          <p:cNvPr id="16" name="Shape 14"/>
          <p:cNvSpPr/>
          <p:nvPr/>
        </p:nvSpPr>
        <p:spPr>
          <a:xfrm>
            <a:off x="7635240" y="5074920"/>
            <a:ext cx="3977640" cy="960120"/>
          </a:xfrm>
          <a:prstGeom prst="roundRect">
            <a:avLst>
              <a:gd name="adj" fmla="val 3810"/>
            </a:avLst>
          </a:prstGeom>
          <a:solidFill>
            <a:srgbClr val="FFFFFF"/>
          </a:solidFill>
          <a:ln w="9525">
            <a:solidFill>
              <a:srgbClr val="DDE2E7"/>
            </a:solidFill>
            <a:prstDash val="solid"/>
          </a:ln>
        </p:spPr>
      </p:sp>
      <p:sp>
        <p:nvSpPr>
          <p:cNvPr id="17" name="Text 15"/>
          <p:cNvSpPr txBox="1"/>
          <p:nvPr/>
        </p:nvSpPr>
        <p:spPr>
          <a:xfrm>
            <a:off x="7909560" y="5221224"/>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MIXED INPUT FOLDERS</a:t>
            </a:r>
            <a:endParaRPr lang="en-US" sz="950" dirty="0"/>
          </a:p>
        </p:txBody>
      </p:sp>
      <p:sp>
        <p:nvSpPr>
          <p:cNvPr id="18" name="Text 16"/>
          <p:cNvSpPr txBox="1"/>
          <p:nvPr/>
        </p:nvSpPr>
        <p:spPr>
          <a:xfrm>
            <a:off x="7909560" y="5468112"/>
            <a:ext cx="3474720" cy="457200"/>
          </a:xfrm>
          <a:prstGeom prst="rect">
            <a:avLst/>
          </a:prstGeom>
          <a:noFill/>
          <a:ln/>
        </p:spPr>
        <p:txBody>
          <a:bodyPr wrap="square" lIns="0" tIns="0" rIns="0" bIns="0" rtlCol="0" anchor="t"/>
          <a:lstStyle/>
          <a:p>
            <a:pPr algn="l" indent="0" marL="0">
              <a:lnSpc>
                <a:spcPct val="115000"/>
              </a:lnSpc>
              <a:buNone/>
            </a:pPr>
            <a:r>
              <a:rPr lang="en-US" sz="1000" dirty="0">
                <a:solidFill>
                  <a:srgbClr val="23282E"/>
                </a:solidFill>
                <a:latin typeface="Calibri" pitchFamily="34" charset="0"/>
                <a:ea typeface="Calibri" pitchFamily="34" charset="-122"/>
                <a:cs typeface="Calibri" pitchFamily="34" charset="-120"/>
              </a:rPr>
              <a:t>Images are grouped by shape at run time — 128², 96×160 and 64² in one folder all restore correctly.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The Knob Only Becomes a Control on TensorRT</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A knob whose settings are inside its own measurement noise is a plot, not a control. We tested each adjacent pair — difference of medians against the pooled standard error of those medians.</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949440" cy="914400"/>
        </p:xfrm>
        <a:graphic>
          <a:graphicData uri="http://schemas.openxmlformats.org/drawingml/2006/table">
            <a:tbl>
              <a:tblPr/>
              <a:tblGrid>
                <a:gridCol w="1645920"/>
                <a:gridCol w="1371600"/>
                <a:gridCol w="1097280"/>
                <a:gridCol w="1463040"/>
                <a:gridCol w="1371600"/>
              </a:tblGrid>
              <a:tr h="310896">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adjacent stops</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TensorRT</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r>
                        <a:rPr lang="en-US" sz="950" b="1" dirty="0">
                          <a:solidFill>
                            <a:srgbClr val="4A5560"/>
                          </a:solidFill>
                          <a:latin typeface="Calibri" pitchFamily="34" charset="0"/>
                          <a:ea typeface="Calibri" pitchFamily="34" charset="-122"/>
                          <a:cs typeface="Calibri" pitchFamily="34" charset="-120"/>
                        </a:rPr>
                        <a:t>PyTorch</a:t>
                      </a: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c>
                  <a:txBody>
                    <a:bodyPr/>
                    <a:lstStyle/>
                    <a:p>
                      <a:pPr indent="0" marL="0">
                        <a:buNone/>
                      </a:pPr>
                      <a:endParaRPr lang="en-US" sz="95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solidFill>
                      <a:srgbClr val="ECEFF2"/>
                    </a:solidFill>
                  </a:tcPr>
                </a:tc>
              </a:tr>
              <a:tr h="310896">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d3 → d6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+0.101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3E7C59"/>
                          </a:solidFill>
                          <a:latin typeface="Calibri" pitchFamily="34" charset="0"/>
                          <a:ea typeface="Calibri" pitchFamily="34" charset="-122"/>
                          <a:cs typeface="Calibri" pitchFamily="34" charset="-120"/>
                        </a:rPr>
                        <a:t>4.6 σ</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−0.032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9A3B34"/>
                          </a:solidFill>
                          <a:latin typeface="Calibri" pitchFamily="34" charset="0"/>
                          <a:ea typeface="Calibri" pitchFamily="34" charset="-122"/>
                          <a:cs typeface="Calibri" pitchFamily="34" charset="-120"/>
                        </a:rPr>
                        <a:t>INVERTED</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310896">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d6 → d10</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+0.187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3E7C59"/>
                          </a:solidFill>
                          <a:latin typeface="Calibri" pitchFamily="34" charset="0"/>
                          <a:ea typeface="Calibri" pitchFamily="34" charset="-122"/>
                          <a:cs typeface="Calibri" pitchFamily="34" charset="-120"/>
                        </a:rPr>
                        <a:t>10.2 σ</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+0.082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9A3B34"/>
                          </a:solidFill>
                          <a:latin typeface="Calibri" pitchFamily="34" charset="0"/>
                          <a:ea typeface="Calibri" pitchFamily="34" charset="-122"/>
                          <a:cs typeface="Calibri" pitchFamily="34" charset="-120"/>
                        </a:rPr>
                        <a:t>2.3 σ</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310896">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d10 → d13</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+0.115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3E7C59"/>
                          </a:solidFill>
                          <a:latin typeface="Calibri" pitchFamily="34" charset="0"/>
                          <a:ea typeface="Calibri" pitchFamily="34" charset="-122"/>
                          <a:cs typeface="Calibri" pitchFamily="34" charset="-120"/>
                        </a:rPr>
                        <a:t>5.7 σ</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+0.055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9A3B34"/>
                          </a:solidFill>
                          <a:latin typeface="Calibri" pitchFamily="34" charset="0"/>
                          <a:ea typeface="Calibri" pitchFamily="34" charset="-122"/>
                          <a:cs typeface="Calibri" pitchFamily="34" charset="-120"/>
                        </a:rPr>
                        <a:t>1.4 σ</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r h="310896">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d13 → d16</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+0.130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b="1" dirty="0">
                          <a:solidFill>
                            <a:srgbClr val="3E7C59"/>
                          </a:solidFill>
                          <a:latin typeface="Calibri" pitchFamily="34" charset="0"/>
                          <a:ea typeface="Calibri" pitchFamily="34" charset="-122"/>
                          <a:cs typeface="Calibri" pitchFamily="34" charset="-120"/>
                        </a:rPr>
                        <a:t>5.8 σ</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23282E"/>
                          </a:solidFill>
                          <a:latin typeface="Calibri" pitchFamily="34" charset="0"/>
                          <a:ea typeface="Calibri" pitchFamily="34" charset="-122"/>
                          <a:cs typeface="Calibri" pitchFamily="34" charset="-120"/>
                        </a:rPr>
                        <a:t>+0.117 s</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c>
                  <a:txBody>
                    <a:bodyPr/>
                    <a:lstStyle/>
                    <a:p>
                      <a:pPr indent="0" marL="0">
                        <a:buNone/>
                      </a:pPr>
                      <a:r>
                        <a:rPr lang="en-US" sz="1000" dirty="0">
                          <a:solidFill>
                            <a:srgbClr val="4A5560"/>
                          </a:solidFill>
                          <a:latin typeface="Calibri" pitchFamily="34" charset="0"/>
                          <a:ea typeface="Calibri" pitchFamily="34" charset="-122"/>
                          <a:cs typeface="Calibri" pitchFamily="34" charset="-120"/>
                        </a:rPr>
                        <a:t>3.2 σ</a:t>
                      </a:r>
                      <a:endParaRPr lang="en-US" sz="1000" dirty="0">
                        <a:latin typeface="Calibri" charset="0"/>
                        <a:ea typeface="Calibri" charset="0"/>
                        <a:cs typeface="Calibri" charset="0"/>
                      </a:endParaRPr>
                    </a:p>
                  </a:txBody>
                  <a:tcPr marL="91440" marR="91440" marT="45720" marB="45720" anchor="ctr">
                    <a:lnL w="6350" cap="flat" cmpd="sng" algn="ctr">
                      <a:solidFill>
                        <a:srgbClr val="DDE2E7"/>
                      </a:solidFill>
                      <a:prstDash val="solid"/>
                      <a:round/>
                      <a:headEnd type="none" w="med" len="med"/>
                      <a:tailEnd type="none" w="med" len="med"/>
                    </a:lnL>
                    <a:lnR w="6350" cap="flat" cmpd="sng" algn="ctr">
                      <a:solidFill>
                        <a:srgbClr val="DDE2E7"/>
                      </a:solidFill>
                      <a:prstDash val="solid"/>
                      <a:round/>
                      <a:headEnd type="none" w="med" len="med"/>
                      <a:tailEnd type="none" w="med" len="med"/>
                    </a:lnR>
                    <a:lnT w="6350" cap="flat" cmpd="sng" algn="ctr">
                      <a:solidFill>
                        <a:srgbClr val="DDE2E7"/>
                      </a:solidFill>
                      <a:prstDash val="solid"/>
                      <a:round/>
                      <a:headEnd type="none" w="med" len="med"/>
                      <a:tailEnd type="none" w="med" len="med"/>
                    </a:lnT>
                    <a:lnB w="6350" cap="flat" cmpd="sng" algn="ctr">
                      <a:solidFill>
                        <a:srgbClr val="DDE2E7"/>
                      </a:solidFill>
                      <a:prstDash val="solid"/>
                      <a:round/>
                      <a:headEnd type="none" w="med" len="med"/>
                      <a:tailEnd type="none" w="med" len="med"/>
                    </a:lnB>
                  </a:tcPr>
                </a:tc>
              </a:tr>
            </a:tbl>
          </a:graphicData>
        </a:graphic>
      </p:graphicFrame>
      <p:sp>
        <p:nvSpPr>
          <p:cNvPr id="5" name="Text 2"/>
          <p:cNvSpPr txBox="1"/>
          <p:nvPr/>
        </p:nvSpPr>
        <p:spPr>
          <a:xfrm>
            <a:off x="548640" y="3246120"/>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9 reps per cell, first 2 discarded as warmup, interleaved round-robin across all ten cells.</a:t>
            </a:r>
            <a:endParaRPr lang="en-US" sz="950" dirty="0"/>
          </a:p>
        </p:txBody>
      </p:sp>
      <p:sp>
        <p:nvSpPr>
          <p:cNvPr id="6" name="Shape 3"/>
          <p:cNvSpPr/>
          <p:nvPr/>
        </p:nvSpPr>
        <p:spPr>
          <a:xfrm>
            <a:off x="548640" y="3611880"/>
            <a:ext cx="6949440" cy="2423160"/>
          </a:xfrm>
          <a:prstGeom prst="roundRect">
            <a:avLst>
              <a:gd name="adj" fmla="val 1509"/>
            </a:avLst>
          </a:prstGeom>
          <a:solidFill>
            <a:srgbClr val="FBF2EC"/>
          </a:solidFill>
          <a:ln w="9525">
            <a:solidFill>
              <a:srgbClr val="E3A574"/>
            </a:solidFill>
            <a:prstDash val="solid"/>
          </a:ln>
        </p:spPr>
      </p:sp>
      <p:sp>
        <p:nvSpPr>
          <p:cNvPr id="7" name="Text 4"/>
          <p:cNvSpPr txBox="1"/>
          <p:nvPr/>
        </p:nvSpPr>
        <p:spPr>
          <a:xfrm>
            <a:off x="822960" y="3794760"/>
            <a:ext cx="640080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READ THE PYTORCH COLUMN CAREFULLY</a:t>
            </a:r>
            <a:endParaRPr lang="en-US" sz="950" dirty="0"/>
          </a:p>
        </p:txBody>
      </p:sp>
      <p:sp>
        <p:nvSpPr>
          <p:cNvPr id="8" name="Text 5"/>
          <p:cNvSpPr txBox="1"/>
          <p:nvPr/>
        </p:nvSpPr>
        <p:spPr>
          <a:xfrm>
            <a:off x="822960" y="4096512"/>
            <a:ext cx="6400800" cy="178308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Three of its four steps are not separable, and the first one runs backwards: depth 6 measures faster than depth 3.</a:t>
            </a:r>
            <a:endParaRPr lang="en-US" sz="1050" dirty="0"/>
          </a:p>
          <a:p>
            <a:pPr algn="l" indent="0" marL="0">
              <a:lnSpc>
                <a:spcPct val="118000"/>
              </a:lnSpc>
              <a:buNone/>
            </a:pPr>
            <a:endParaRPr lang="en-US" sz="1050" dirty="0"/>
          </a:p>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That is not a bug in the knob. On the PyTorch path, 54% of the run is importing the framework, and the three residual blocks you removed are lost inside it. The control exists in the model the whole time — it is the startup floor that makes it unusable.</a:t>
            </a:r>
            <a:endParaRPr lang="en-US" sz="1050" dirty="0"/>
          </a:p>
          <a:p>
            <a:pPr algn="l" indent="0" marL="0">
              <a:lnSpc>
                <a:spcPct val="118000"/>
              </a:lnSpc>
              <a:buNone/>
            </a:pPr>
            <a:endParaRPr lang="en-US" sz="1050" dirty="0"/>
          </a:p>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TensorRT does not make the knob finer. It makes it visible.</a:t>
            </a:r>
            <a:endParaRPr lang="en-US" sz="1050" dirty="0"/>
          </a:p>
        </p:txBody>
      </p:sp>
      <p:sp>
        <p:nvSpPr>
          <p:cNvPr id="9" name="Shape 6"/>
          <p:cNvSpPr/>
          <p:nvPr/>
        </p:nvSpPr>
        <p:spPr>
          <a:xfrm>
            <a:off x="7635240" y="1600200"/>
            <a:ext cx="3977640" cy="2194560"/>
          </a:xfrm>
          <a:prstGeom prst="roundRect">
            <a:avLst>
              <a:gd name="adj" fmla="val 1667"/>
            </a:avLst>
          </a:prstGeom>
          <a:solidFill>
            <a:srgbClr val="FFFFFF"/>
          </a:solidFill>
          <a:ln w="9525">
            <a:solidFill>
              <a:srgbClr val="DDE2E7"/>
            </a:solidFill>
            <a:prstDash val="solid"/>
          </a:ln>
        </p:spPr>
      </p:sp>
      <p:sp>
        <p:nvSpPr>
          <p:cNvPr id="10" name="Text 7"/>
          <p:cNvSpPr txBox="1"/>
          <p:nvPr/>
        </p:nvSpPr>
        <p:spPr>
          <a:xfrm>
            <a:off x="7909560" y="180136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WHY THE STANDARD ERROR AND NOT Σ</a:t>
            </a:r>
            <a:endParaRPr lang="en-US" sz="950" dirty="0"/>
          </a:p>
        </p:txBody>
      </p:sp>
      <p:sp>
        <p:nvSpPr>
          <p:cNvPr id="11" name="Text 8"/>
          <p:cNvSpPr txBox="1"/>
          <p:nvPr/>
        </p:nvSpPr>
        <p:spPr>
          <a:xfrm>
            <a:off x="7909560" y="2084832"/>
            <a:ext cx="3474720" cy="1600200"/>
          </a:xfrm>
          <a:prstGeom prst="rect">
            <a:avLst/>
          </a:prstGeom>
          <a:noFill/>
          <a:ln/>
        </p:spPr>
        <p:txBody>
          <a:bodyPr wrap="square" lIns="0" tIns="0" rIns="0" bIns="0" rtlCol="0" anchor="t"/>
          <a:lstStyle/>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Each stop is a median of several repetitions, so what is being compared is two medians — and the uncertainty on a median falls as √n.</a:t>
            </a:r>
            <a:endParaRPr lang="en-US" sz="1000" dirty="0"/>
          </a:p>
          <a:p>
            <a:pPr algn="l" indent="0" marL="0">
              <a:lnSpc>
                <a:spcPct val="116000"/>
              </a:lnSpc>
              <a:buNone/>
            </a:pPr>
            <a:endParaRPr lang="en-US" sz="1000" dirty="0"/>
          </a:p>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Comparing a difference of medians against a per-sample σ understates the separation by roughly that factor. We made exactly that error first; it is on the corrections slide.</a:t>
            </a:r>
            <a:endParaRPr lang="en-US" sz="1000" dirty="0"/>
          </a:p>
        </p:txBody>
      </p:sp>
      <p:sp>
        <p:nvSpPr>
          <p:cNvPr id="12" name="Shape 9"/>
          <p:cNvSpPr/>
          <p:nvPr/>
        </p:nvSpPr>
        <p:spPr>
          <a:xfrm>
            <a:off x="7635240" y="3931920"/>
            <a:ext cx="3977640" cy="2103120"/>
          </a:xfrm>
          <a:prstGeom prst="roundRect">
            <a:avLst>
              <a:gd name="adj" fmla="val 1739"/>
            </a:avLst>
          </a:prstGeom>
          <a:solidFill>
            <a:srgbClr val="ECEFF2"/>
          </a:solidFill>
          <a:ln w="9525">
            <a:solidFill>
              <a:srgbClr val="DDE2E7"/>
            </a:solidFill>
            <a:prstDash val="solid"/>
          </a:ln>
        </p:spPr>
      </p:sp>
      <p:sp>
        <p:nvSpPr>
          <p:cNvPr id="13" name="Text 10"/>
          <p:cNvSpPr txBox="1"/>
          <p:nvPr/>
        </p:nvSpPr>
        <p:spPr>
          <a:xfrm>
            <a:off x="7909560" y="413308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AND A ROBUST SPREAD, NOT A STANDARD DEVIATION</a:t>
            </a:r>
            <a:endParaRPr lang="en-US" sz="950" dirty="0"/>
          </a:p>
        </p:txBody>
      </p:sp>
      <p:sp>
        <p:nvSpPr>
          <p:cNvPr id="14" name="Text 11"/>
          <p:cNvSpPr txBox="1"/>
          <p:nvPr/>
        </p:nvSpPr>
        <p:spPr>
          <a:xfrm>
            <a:off x="7909560" y="4416552"/>
            <a:ext cx="3474720" cy="1508760"/>
          </a:xfrm>
          <a:prstGeom prst="rect">
            <a:avLst/>
          </a:prstGeom>
          <a:noFill/>
          <a:ln/>
        </p:spPr>
        <p:txBody>
          <a:bodyPr wrap="square" lIns="0" tIns="0" rIns="0" bIns="0" rtlCol="0" anchor="t"/>
          <a:lstStyle/>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On a shared machine roughly one run in five stalls about half a second on I/O. That single sample dominates a standard deviation while the median ignores it.</a:t>
            </a:r>
            <a:endParaRPr lang="en-US" sz="1000" dirty="0"/>
          </a:p>
          <a:p>
            <a:pPr algn="l" indent="0" marL="0">
              <a:lnSpc>
                <a:spcPct val="116000"/>
              </a:lnSpc>
              <a:buNone/>
            </a:pPr>
            <a:endParaRPr lang="en-US" sz="1000" dirty="0"/>
          </a:p>
          <a:p>
            <a:pPr algn="l" indent="0" marL="0">
              <a:lnSpc>
                <a:spcPct val="116000"/>
              </a:lnSpc>
              <a:buNone/>
            </a:pPr>
            <a:r>
              <a:rPr lang="en-US" sz="1000" dirty="0">
                <a:solidFill>
                  <a:srgbClr val="23282E"/>
                </a:solidFill>
                <a:latin typeface="Calibri" pitchFamily="34" charset="0"/>
                <a:ea typeface="Calibri" pitchFamily="34" charset="-122"/>
                <a:cs typeface="Calibri" pitchFamily="34" charset="-120"/>
              </a:rPr>
              <a:t>We report 1.4826 × median-absolute-deviation, and print the standard deviation beside it so the stalls stay visible.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Batch Size, Measured on Both Backends</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The organisers asked for batch-size optimisation on the H100. The answer is 32 — and the two ways of being wrong about it cost very differently.</a:t>
            </a:r>
            <a:endParaRPr lang="en-US" sz="1150" dirty="0"/>
          </a:p>
        </p:txBody>
      </p:sp>
      <p:graphicFrame>
        <p:nvGraphicFramePr>
          <p:cNvPr id="4" name="Chart 0" descr=""/>
          <p:cNvGraphicFramePr/>
          <p:nvPr/>
        </p:nvGraphicFramePr>
        <p:xfrm>
          <a:off x="548640" y="1554480"/>
          <a:ext cx="6949440" cy="26517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4224528"/>
            <a:ext cx="69494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Images per second, end to end over the 297, TensorRT path, depth 16, H100 NVL.</a:t>
            </a:r>
            <a:endParaRPr lang="en-US" sz="950" dirty="0"/>
          </a:p>
        </p:txBody>
      </p:sp>
      <p:sp>
        <p:nvSpPr>
          <p:cNvPr id="6" name="Shape 3"/>
          <p:cNvSpPr/>
          <p:nvPr/>
        </p:nvSpPr>
        <p:spPr>
          <a:xfrm>
            <a:off x="548640" y="4572000"/>
            <a:ext cx="6949440" cy="1463040"/>
          </a:xfrm>
          <a:prstGeom prst="roundRect">
            <a:avLst>
              <a:gd name="adj" fmla="val 2500"/>
            </a:avLst>
          </a:prstGeom>
          <a:solidFill>
            <a:srgbClr val="ECEFF2"/>
          </a:solidFill>
          <a:ln w="9525">
            <a:solidFill>
              <a:srgbClr val="DDE2E7"/>
            </a:solidFill>
            <a:prstDash val="solid"/>
          </a:ln>
        </p:spPr>
      </p:sp>
      <p:sp>
        <p:nvSpPr>
          <p:cNvPr id="7" name="Text 4"/>
          <p:cNvSpPr txBox="1"/>
          <p:nvPr/>
        </p:nvSpPr>
        <p:spPr>
          <a:xfrm>
            <a:off x="822960" y="4754880"/>
            <a:ext cx="64008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THE TWO FAILURE DIRECTIONS ARE NOT SYMMETRIC</a:t>
            </a:r>
            <a:endParaRPr lang="en-US" sz="950" dirty="0"/>
          </a:p>
        </p:txBody>
      </p:sp>
      <p:sp>
        <p:nvSpPr>
          <p:cNvPr id="8" name="Text 5"/>
          <p:cNvSpPr txBox="1"/>
          <p:nvPr/>
        </p:nvSpPr>
        <p:spPr>
          <a:xfrm>
            <a:off x="822960" y="5047488"/>
            <a:ext cx="6400800" cy="914400"/>
          </a:xfrm>
          <a:prstGeom prst="rect">
            <a:avLst/>
          </a:prstGeom>
          <a:noFill/>
          <a:ln/>
        </p:spPr>
        <p:txBody>
          <a:bodyPr wrap="square" lIns="0" tIns="0" rIns="0" bIns="0" rtlCol="0" anchor="t"/>
          <a:lstStyle/>
          <a:p>
            <a:pPr algn="l" indent="0" marL="0">
              <a:lnSpc>
                <a:spcPct val="118000"/>
              </a:lnSpc>
              <a:buNone/>
            </a:pPr>
            <a:r>
              <a:rPr lang="en-US" sz="1050" dirty="0">
                <a:solidFill>
                  <a:srgbClr val="23282E"/>
                </a:solidFill>
                <a:latin typeface="Calibri" pitchFamily="34" charset="0"/>
                <a:ea typeface="Calibri" pitchFamily="34" charset="-122"/>
                <a:cs typeface="Calibri" pitchFamily="34" charset="-120"/>
              </a:rPr>
              <a:t>Batch 1 costs 4.4× — that is the per-launch overhead of serving one wafer image at a time, and it is the setting a naïve streaming deployment would pick. Batch 64 costs 1.44×, because the engines are built with an optimisation profile centred on 32, so TensorRT tuned its kernel tactics at that exact shape and going outside it loses the tuned tactic.</a:t>
            </a:r>
            <a:endParaRPr lang="en-US" sz="1050" dirty="0"/>
          </a:p>
        </p:txBody>
      </p:sp>
      <p:sp>
        <p:nvSpPr>
          <p:cNvPr id="9" name="Shape 6"/>
          <p:cNvSpPr/>
          <p:nvPr/>
        </p:nvSpPr>
        <p:spPr>
          <a:xfrm>
            <a:off x="7635240" y="1554480"/>
            <a:ext cx="3977640" cy="2103120"/>
          </a:xfrm>
          <a:prstGeom prst="roundRect">
            <a:avLst>
              <a:gd name="adj" fmla="val 1739"/>
            </a:avLst>
          </a:prstGeom>
          <a:solidFill>
            <a:srgbClr val="FBF2EC"/>
          </a:solidFill>
          <a:ln w="9525">
            <a:solidFill>
              <a:srgbClr val="E3A574"/>
            </a:solidFill>
            <a:prstDash val="solid"/>
          </a:ln>
        </p:spPr>
      </p:sp>
      <p:sp>
        <p:nvSpPr>
          <p:cNvPr id="10" name="Text 7"/>
          <p:cNvSpPr txBox="1"/>
          <p:nvPr/>
        </p:nvSpPr>
        <p:spPr>
          <a:xfrm>
            <a:off x="7909560" y="1755648"/>
            <a:ext cx="347472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THE SAME ANSWER ON PYTORCH</a:t>
            </a:r>
            <a:endParaRPr lang="en-US" sz="950" dirty="0"/>
          </a:p>
        </p:txBody>
      </p:sp>
      <p:sp>
        <p:nvSpPr>
          <p:cNvPr id="11" name="Text 8"/>
          <p:cNvSpPr txBox="1"/>
          <p:nvPr/>
        </p:nvSpPr>
        <p:spPr>
          <a:xfrm>
            <a:off x="7909560" y="2039112"/>
            <a:ext cx="3474720" cy="150876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32 is also optimal on the PyTorch path — but there it barely matters, because inference is a small slice of that run. On TensorRT inference is roughly half the run, so the same choice carries several times the weight.</a:t>
            </a:r>
            <a:endParaRPr lang="en-US" sz="1000" dirty="0"/>
          </a:p>
        </p:txBody>
      </p:sp>
      <p:sp>
        <p:nvSpPr>
          <p:cNvPr id="12" name="Shape 9"/>
          <p:cNvSpPr/>
          <p:nvPr/>
        </p:nvSpPr>
        <p:spPr>
          <a:xfrm>
            <a:off x="7635240" y="3794760"/>
            <a:ext cx="3977640" cy="2240280"/>
          </a:xfrm>
          <a:prstGeom prst="roundRect">
            <a:avLst>
              <a:gd name="adj" fmla="val 1633"/>
            </a:avLst>
          </a:prstGeom>
          <a:solidFill>
            <a:srgbClr val="FFFFFF"/>
          </a:solidFill>
          <a:ln w="9525">
            <a:solidFill>
              <a:srgbClr val="DDE2E7"/>
            </a:solidFill>
            <a:prstDash val="solid"/>
          </a:ln>
        </p:spPr>
      </p:sp>
      <p:sp>
        <p:nvSpPr>
          <p:cNvPr id="13" name="Text 10"/>
          <p:cNvSpPr txBox="1"/>
          <p:nvPr/>
        </p:nvSpPr>
        <p:spPr>
          <a:xfrm>
            <a:off x="7909560" y="3995928"/>
            <a:ext cx="34747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WHAT WE WOULD CHANGE FOR A REAL LINE</a:t>
            </a:r>
            <a:endParaRPr lang="en-US" sz="950" dirty="0"/>
          </a:p>
        </p:txBody>
      </p:sp>
      <p:sp>
        <p:nvSpPr>
          <p:cNvPr id="14" name="Text 11"/>
          <p:cNvSpPr txBox="1"/>
          <p:nvPr/>
        </p:nvSpPr>
        <p:spPr>
          <a:xfrm>
            <a:off x="7909560" y="4279392"/>
            <a:ext cx="3474720" cy="1645920"/>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A tool that inspects one image at a time is a batch-1 workload, and would want an engine built with its profile centred on 1 rather than 32.</a:t>
            </a:r>
            <a:endParaRPr lang="en-US" sz="1000" dirty="0"/>
          </a:p>
          <a:p>
            <a:pPr algn="l" indent="0" marL="0">
              <a:lnSpc>
                <a:spcPct val="118000"/>
              </a:lnSpc>
              <a:buNone/>
            </a:pPr>
            <a:endParaRPr lang="en-US" sz="1000" dirty="0"/>
          </a:p>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The build is one command and 30 seconds per engine, so this is a deployment parameter, not a redesign.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What We Got Wrong</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Six claims we made and then had to withdraw. Each one changed a conclusion, each is corrected in the repository with the original struck through rather than edited away.</a:t>
            </a:r>
            <a:endParaRPr lang="en-US" sz="1150" dirty="0"/>
          </a:p>
        </p:txBody>
      </p:sp>
      <p:sp>
        <p:nvSpPr>
          <p:cNvPr id="4" name="Shape 2"/>
          <p:cNvSpPr/>
          <p:nvPr/>
        </p:nvSpPr>
        <p:spPr>
          <a:xfrm>
            <a:off x="548640" y="1371600"/>
            <a:ext cx="11064240" cy="713232"/>
          </a:xfrm>
          <a:prstGeom prst="roundRect">
            <a:avLst>
              <a:gd name="adj" fmla="val 5128"/>
            </a:avLst>
          </a:prstGeom>
          <a:solidFill>
            <a:srgbClr val="ECEFF2"/>
          </a:solidFill>
          <a:ln w="9525">
            <a:solidFill>
              <a:srgbClr val="DDE2E7"/>
            </a:solidFill>
            <a:prstDash val="solid"/>
          </a:ln>
        </p:spPr>
      </p:sp>
      <p:sp>
        <p:nvSpPr>
          <p:cNvPr id="5" name="Text 3"/>
          <p:cNvSpPr txBox="1"/>
          <p:nvPr/>
        </p:nvSpPr>
        <p:spPr>
          <a:xfrm>
            <a:off x="822960" y="1463040"/>
            <a:ext cx="3566160" cy="603504"/>
          </a:xfrm>
          <a:prstGeom prst="rect">
            <a:avLst/>
          </a:prstGeom>
          <a:noFill/>
          <a:ln/>
        </p:spPr>
        <p:txBody>
          <a:bodyPr wrap="square" lIns="0" tIns="0" rIns="0" bIns="0" rtlCol="0" anchor="t"/>
          <a:lstStyle/>
          <a:p>
            <a:pPr algn="l" indent="0" marL="0">
              <a:lnSpc>
                <a:spcPct val="112000"/>
              </a:lnSpc>
              <a:buNone/>
            </a:pPr>
            <a:r>
              <a:rPr lang="en-US" sz="1050" b="1" dirty="0">
                <a:solidFill>
                  <a:srgbClr val="C2703B"/>
                </a:solidFill>
                <a:latin typeface="Calibri" pitchFamily="34" charset="0"/>
                <a:ea typeface="Calibri" pitchFamily="34" charset="-122"/>
                <a:cs typeface="Calibri" pitchFamily="34" charset="-120"/>
              </a:rPr>
              <a:t>“The forward pass is ~1% of end-to-end”</a:t>
            </a:r>
            <a:endParaRPr lang="en-US" sz="1050" dirty="0"/>
          </a:p>
        </p:txBody>
      </p:sp>
      <p:sp>
        <p:nvSpPr>
          <p:cNvPr id="6" name="Text 4"/>
          <p:cNvSpPr txBox="1"/>
          <p:nvPr/>
        </p:nvSpPr>
        <p:spPr>
          <a:xfrm>
            <a:off x="4526280" y="1463040"/>
            <a:ext cx="6446520" cy="548640"/>
          </a:xfrm>
          <a:prstGeom prst="rect">
            <a:avLst/>
          </a:prstGeom>
          <a:noFill/>
          <a:ln/>
        </p:spPr>
        <p:txBody>
          <a:bodyPr wrap="square" lIns="0" tIns="0" rIns="0" bIns="0" rtlCol="0" anchor="t"/>
          <a:lstStyle/>
          <a:p>
            <a:pPr algn="l" indent="0" marL="0">
              <a:lnSpc>
                <a:spcPct val="114000"/>
              </a:lnSpc>
              <a:buNone/>
            </a:pPr>
            <a:r>
              <a:rPr lang="en-US" sz="950" dirty="0">
                <a:solidFill>
                  <a:srgbClr val="4A5560"/>
                </a:solidFill>
                <a:latin typeface="Calibri" pitchFamily="34" charset="0"/>
                <a:ea typeface="Calibri" pitchFamily="34" charset="-122"/>
                <a:cs typeface="Calibri" pitchFamily="34" charset="-120"/>
              </a:rPr>
              <a:t>Repeated in three documents and used to argue inference optimisation was pointless. Measured: 22.9% at depth 8, 41.9% at full depth. The original came from a cold-cache run where a 17 s import swamped everything.</a:t>
            </a:r>
            <a:endParaRPr lang="en-US" sz="950" dirty="0"/>
          </a:p>
        </p:txBody>
      </p:sp>
      <p:sp>
        <p:nvSpPr>
          <p:cNvPr id="7" name="Shape 5"/>
          <p:cNvSpPr/>
          <p:nvPr/>
        </p:nvSpPr>
        <p:spPr>
          <a:xfrm>
            <a:off x="548640" y="2139696"/>
            <a:ext cx="11064240" cy="713232"/>
          </a:xfrm>
          <a:prstGeom prst="roundRect">
            <a:avLst>
              <a:gd name="adj" fmla="val 5128"/>
            </a:avLst>
          </a:prstGeom>
          <a:solidFill>
            <a:srgbClr val="FFFFFF"/>
          </a:solidFill>
          <a:ln w="9525">
            <a:solidFill>
              <a:srgbClr val="DDE2E7"/>
            </a:solidFill>
            <a:prstDash val="solid"/>
          </a:ln>
        </p:spPr>
      </p:sp>
      <p:sp>
        <p:nvSpPr>
          <p:cNvPr id="8" name="Text 6"/>
          <p:cNvSpPr txBox="1"/>
          <p:nvPr/>
        </p:nvSpPr>
        <p:spPr>
          <a:xfrm>
            <a:off x="822960" y="2231136"/>
            <a:ext cx="3566160" cy="603504"/>
          </a:xfrm>
          <a:prstGeom prst="rect">
            <a:avLst/>
          </a:prstGeom>
          <a:noFill/>
          <a:ln/>
        </p:spPr>
        <p:txBody>
          <a:bodyPr wrap="square" lIns="0" tIns="0" rIns="0" bIns="0" rtlCol="0" anchor="t"/>
          <a:lstStyle/>
          <a:p>
            <a:pPr algn="l" indent="0" marL="0">
              <a:lnSpc>
                <a:spcPct val="112000"/>
              </a:lnSpc>
              <a:buNone/>
            </a:pPr>
            <a:r>
              <a:rPr lang="en-US" sz="1050" b="1" dirty="0">
                <a:solidFill>
                  <a:srgbClr val="C2703B"/>
                </a:solidFill>
                <a:latin typeface="Calibri" pitchFamily="34" charset="0"/>
                <a:ea typeface="Calibri" pitchFamily="34" charset="-122"/>
                <a:cs typeface="Calibri" pitchFamily="34" charset="-120"/>
              </a:rPr>
              <a:t>A standard deviation next to a median</a:t>
            </a:r>
            <a:endParaRPr lang="en-US" sz="1050" dirty="0"/>
          </a:p>
        </p:txBody>
      </p:sp>
      <p:sp>
        <p:nvSpPr>
          <p:cNvPr id="9" name="Text 7"/>
          <p:cNvSpPr txBox="1"/>
          <p:nvPr/>
        </p:nvSpPr>
        <p:spPr>
          <a:xfrm>
            <a:off x="4526280" y="2231136"/>
            <a:ext cx="6446520" cy="548640"/>
          </a:xfrm>
          <a:prstGeom prst="rect">
            <a:avLst/>
          </a:prstGeom>
          <a:noFill/>
          <a:ln/>
        </p:spPr>
        <p:txBody>
          <a:bodyPr wrap="square" lIns="0" tIns="0" rIns="0" bIns="0" rtlCol="0" anchor="t"/>
          <a:lstStyle/>
          <a:p>
            <a:pPr algn="l" indent="0" marL="0">
              <a:lnSpc>
                <a:spcPct val="114000"/>
              </a:lnSpc>
              <a:buNone/>
            </a:pPr>
            <a:r>
              <a:rPr lang="en-US" sz="950" dirty="0">
                <a:solidFill>
                  <a:srgbClr val="4A5560"/>
                </a:solidFill>
                <a:latin typeface="Calibri" pitchFamily="34" charset="0"/>
                <a:ea typeface="Calibri" pitchFamily="34" charset="-122"/>
                <a:cs typeface="Calibri" pitchFamily="34" charset="-120"/>
              </a:rPr>
              <a:t>One I/O stall in five repetitions made a knob whose stops are 5–10 σ apart report as unresolvable. Replaced with a robust σ — 1.4826 × MAD — which ignores the stall the same way the median does.</a:t>
            </a:r>
            <a:endParaRPr lang="en-US" sz="950" dirty="0"/>
          </a:p>
        </p:txBody>
      </p:sp>
      <p:sp>
        <p:nvSpPr>
          <p:cNvPr id="10" name="Shape 8"/>
          <p:cNvSpPr/>
          <p:nvPr/>
        </p:nvSpPr>
        <p:spPr>
          <a:xfrm>
            <a:off x="548640" y="2907792"/>
            <a:ext cx="11064240" cy="713232"/>
          </a:xfrm>
          <a:prstGeom prst="roundRect">
            <a:avLst>
              <a:gd name="adj" fmla="val 5128"/>
            </a:avLst>
          </a:prstGeom>
          <a:solidFill>
            <a:srgbClr val="ECEFF2"/>
          </a:solidFill>
          <a:ln w="9525">
            <a:solidFill>
              <a:srgbClr val="DDE2E7"/>
            </a:solidFill>
            <a:prstDash val="solid"/>
          </a:ln>
        </p:spPr>
      </p:sp>
      <p:sp>
        <p:nvSpPr>
          <p:cNvPr id="11" name="Text 9"/>
          <p:cNvSpPr txBox="1"/>
          <p:nvPr/>
        </p:nvSpPr>
        <p:spPr>
          <a:xfrm>
            <a:off x="822960" y="2999232"/>
            <a:ext cx="3566160" cy="603504"/>
          </a:xfrm>
          <a:prstGeom prst="rect">
            <a:avLst/>
          </a:prstGeom>
          <a:noFill/>
          <a:ln/>
        </p:spPr>
        <p:txBody>
          <a:bodyPr wrap="square" lIns="0" tIns="0" rIns="0" bIns="0" rtlCol="0" anchor="t"/>
          <a:lstStyle/>
          <a:p>
            <a:pPr algn="l" indent="0" marL="0">
              <a:lnSpc>
                <a:spcPct val="112000"/>
              </a:lnSpc>
              <a:buNone/>
            </a:pPr>
            <a:r>
              <a:rPr lang="en-US" sz="1050" b="1" dirty="0">
                <a:solidFill>
                  <a:srgbClr val="C2703B"/>
                </a:solidFill>
                <a:latin typeface="Calibri" pitchFamily="34" charset="0"/>
                <a:ea typeface="Calibri" pitchFamily="34" charset="-122"/>
                <a:cs typeface="Calibri" pitchFamily="34" charset="-120"/>
              </a:rPr>
              <a:t>Per-sample σ where the standard error belonged</a:t>
            </a:r>
            <a:endParaRPr lang="en-US" sz="1050" dirty="0"/>
          </a:p>
        </p:txBody>
      </p:sp>
      <p:sp>
        <p:nvSpPr>
          <p:cNvPr id="12" name="Text 10"/>
          <p:cNvSpPr txBox="1"/>
          <p:nvPr/>
        </p:nvSpPr>
        <p:spPr>
          <a:xfrm>
            <a:off x="4526280" y="2999232"/>
            <a:ext cx="6446520" cy="548640"/>
          </a:xfrm>
          <a:prstGeom prst="rect">
            <a:avLst/>
          </a:prstGeom>
          <a:noFill/>
          <a:ln/>
        </p:spPr>
        <p:txBody>
          <a:bodyPr wrap="square" lIns="0" tIns="0" rIns="0" bIns="0" rtlCol="0" anchor="t"/>
          <a:lstStyle/>
          <a:p>
            <a:pPr algn="l" indent="0" marL="0">
              <a:lnSpc>
                <a:spcPct val="114000"/>
              </a:lnSpc>
              <a:buNone/>
            </a:pPr>
            <a:r>
              <a:rPr lang="en-US" sz="950" dirty="0">
                <a:solidFill>
                  <a:srgbClr val="4A5560"/>
                </a:solidFill>
                <a:latin typeface="Calibri" pitchFamily="34" charset="0"/>
                <a:ea typeface="Calibri" pitchFamily="34" charset="-122"/>
                <a:cs typeface="Calibri" pitchFamily="34" charset="-120"/>
              </a:rPr>
              <a:t>Adjacent knob stops were then compared against a per-sample σ pooled from the worst of ten cells, instead of the standard error of the two medians being compared. That understates separation by about √n.</a:t>
            </a:r>
            <a:endParaRPr lang="en-US" sz="950" dirty="0"/>
          </a:p>
        </p:txBody>
      </p:sp>
      <p:sp>
        <p:nvSpPr>
          <p:cNvPr id="13" name="Shape 11"/>
          <p:cNvSpPr/>
          <p:nvPr/>
        </p:nvSpPr>
        <p:spPr>
          <a:xfrm>
            <a:off x="548640" y="3675888"/>
            <a:ext cx="11064240" cy="786384"/>
          </a:xfrm>
          <a:prstGeom prst="roundRect">
            <a:avLst>
              <a:gd name="adj" fmla="val 4651"/>
            </a:avLst>
          </a:prstGeom>
          <a:solidFill>
            <a:srgbClr val="FFFFFF"/>
          </a:solidFill>
          <a:ln w="9525">
            <a:solidFill>
              <a:srgbClr val="DDE2E7"/>
            </a:solidFill>
            <a:prstDash val="solid"/>
          </a:ln>
        </p:spPr>
      </p:sp>
      <p:sp>
        <p:nvSpPr>
          <p:cNvPr id="14" name="Text 12"/>
          <p:cNvSpPr txBox="1"/>
          <p:nvPr/>
        </p:nvSpPr>
        <p:spPr>
          <a:xfrm>
            <a:off x="822960" y="3767328"/>
            <a:ext cx="3566160" cy="603504"/>
          </a:xfrm>
          <a:prstGeom prst="rect">
            <a:avLst/>
          </a:prstGeom>
          <a:noFill/>
          <a:ln/>
        </p:spPr>
        <p:txBody>
          <a:bodyPr wrap="square" lIns="0" tIns="0" rIns="0" bIns="0" rtlCol="0" anchor="t"/>
          <a:lstStyle/>
          <a:p>
            <a:pPr algn="l" indent="0" marL="0">
              <a:lnSpc>
                <a:spcPct val="112000"/>
              </a:lnSpc>
              <a:buNone/>
            </a:pPr>
            <a:r>
              <a:rPr lang="en-US" sz="1050" b="1" dirty="0">
                <a:solidFill>
                  <a:srgbClr val="C2703B"/>
                </a:solidFill>
                <a:latin typeface="Calibri" pitchFamily="34" charset="0"/>
                <a:ea typeface="Calibri" pitchFamily="34" charset="-122"/>
                <a:cs typeface="Calibri" pitchFamily="34" charset="-120"/>
              </a:rPr>
              <a:t>An engine check that refused correct weights</a:t>
            </a:r>
            <a:endParaRPr lang="en-US" sz="1050" dirty="0"/>
          </a:p>
        </p:txBody>
      </p:sp>
      <p:sp>
        <p:nvSpPr>
          <p:cNvPr id="15" name="Text 13"/>
          <p:cNvSpPr txBox="1"/>
          <p:nvPr/>
        </p:nvSpPr>
        <p:spPr>
          <a:xfrm>
            <a:off x="4526280" y="3767328"/>
            <a:ext cx="6446520" cy="621792"/>
          </a:xfrm>
          <a:prstGeom prst="rect">
            <a:avLst/>
          </a:prstGeom>
          <a:noFill/>
          <a:ln/>
        </p:spPr>
        <p:txBody>
          <a:bodyPr wrap="square" lIns="0" tIns="0" rIns="0" bIns="0" rtlCol="0" anchor="t"/>
          <a:lstStyle/>
          <a:p>
            <a:pPr algn="l" indent="0" marL="0">
              <a:lnSpc>
                <a:spcPct val="114000"/>
              </a:lnSpc>
              <a:buNone/>
            </a:pPr>
            <a:r>
              <a:rPr lang="en-US" sz="950" dirty="0">
                <a:solidFill>
                  <a:srgbClr val="4A5560"/>
                </a:solidFill>
                <a:latin typeface="Calibri" pitchFamily="34" charset="0"/>
                <a:ea typeface="Calibri" pitchFamily="34" charset="-122"/>
                <a:cs typeface="Calibri" pitchFamily="34" charset="-120"/>
              </a:rPr>
              <a:t>We proved the weights matched by comparing outputs at 1e−5. The reference was computed on the build GPU under TF32 and re-run on CPU under true FP32, so correct weights disagreed at 1e−4 and were refused. Replaced with an exact state-dictionary comparison.</a:t>
            </a:r>
            <a:endParaRPr lang="en-US" sz="950" dirty="0"/>
          </a:p>
        </p:txBody>
      </p:sp>
      <p:sp>
        <p:nvSpPr>
          <p:cNvPr id="16" name="Shape 14"/>
          <p:cNvSpPr/>
          <p:nvPr/>
        </p:nvSpPr>
        <p:spPr>
          <a:xfrm>
            <a:off x="548640" y="4517136"/>
            <a:ext cx="11064240" cy="713232"/>
          </a:xfrm>
          <a:prstGeom prst="roundRect">
            <a:avLst>
              <a:gd name="adj" fmla="val 5128"/>
            </a:avLst>
          </a:prstGeom>
          <a:solidFill>
            <a:srgbClr val="ECEFF2"/>
          </a:solidFill>
          <a:ln w="9525">
            <a:solidFill>
              <a:srgbClr val="DDE2E7"/>
            </a:solidFill>
            <a:prstDash val="solid"/>
          </a:ln>
        </p:spPr>
      </p:sp>
      <p:sp>
        <p:nvSpPr>
          <p:cNvPr id="17" name="Text 15"/>
          <p:cNvSpPr txBox="1"/>
          <p:nvPr/>
        </p:nvSpPr>
        <p:spPr>
          <a:xfrm>
            <a:off x="822960" y="4608576"/>
            <a:ext cx="3566160" cy="603504"/>
          </a:xfrm>
          <a:prstGeom prst="rect">
            <a:avLst/>
          </a:prstGeom>
          <a:noFill/>
          <a:ln/>
        </p:spPr>
        <p:txBody>
          <a:bodyPr wrap="square" lIns="0" tIns="0" rIns="0" bIns="0" rtlCol="0" anchor="t"/>
          <a:lstStyle/>
          <a:p>
            <a:pPr algn="l" indent="0" marL="0">
              <a:lnSpc>
                <a:spcPct val="112000"/>
              </a:lnSpc>
              <a:buNone/>
            </a:pPr>
            <a:r>
              <a:rPr lang="en-US" sz="1050" b="1" dirty="0">
                <a:solidFill>
                  <a:srgbClr val="C2703B"/>
                </a:solidFill>
                <a:latin typeface="Calibri" pitchFamily="34" charset="0"/>
                <a:ea typeface="Calibri" pitchFamily="34" charset="-122"/>
                <a:cs typeface="Calibri" pitchFamily="34" charset="-120"/>
              </a:rPr>
              <a:t>“e1f_gate produces more high-frequency energy”</a:t>
            </a:r>
            <a:endParaRPr lang="en-US" sz="1050" dirty="0"/>
          </a:p>
        </p:txBody>
      </p:sp>
      <p:sp>
        <p:nvSpPr>
          <p:cNvPr id="18" name="Text 16"/>
          <p:cNvSpPr txBox="1"/>
          <p:nvPr/>
        </p:nvSpPr>
        <p:spPr>
          <a:xfrm>
            <a:off x="4526280" y="4608576"/>
            <a:ext cx="6446520" cy="548640"/>
          </a:xfrm>
          <a:prstGeom prst="rect">
            <a:avLst/>
          </a:prstGeom>
          <a:noFill/>
          <a:ln/>
        </p:spPr>
        <p:txBody>
          <a:bodyPr wrap="square" lIns="0" tIns="0" rIns="0" bIns="0" rtlCol="0" anchor="t"/>
          <a:lstStyle/>
          <a:p>
            <a:pPr algn="l" indent="0" marL="0">
              <a:lnSpc>
                <a:spcPct val="114000"/>
              </a:lnSpc>
              <a:buNone/>
            </a:pPr>
            <a:r>
              <a:rPr lang="en-US" sz="950" dirty="0">
                <a:solidFill>
                  <a:srgbClr val="4A5560"/>
                </a:solidFill>
                <a:latin typeface="Calibri" pitchFamily="34" charset="0"/>
                <a:ea typeface="Calibri" pitchFamily="34" charset="-122"/>
                <a:cs typeface="Calibri" pitchFamily="34" charset="-120"/>
              </a:rPr>
              <a:t>Under a single unified protocol it produces less than we had claimed. What distinguishes it is placement — correlation 0.3261 against 0.2954 — not quantity.</a:t>
            </a:r>
            <a:endParaRPr lang="en-US" sz="950" dirty="0"/>
          </a:p>
        </p:txBody>
      </p:sp>
      <p:sp>
        <p:nvSpPr>
          <p:cNvPr id="19" name="Shape 17"/>
          <p:cNvSpPr/>
          <p:nvPr/>
        </p:nvSpPr>
        <p:spPr>
          <a:xfrm>
            <a:off x="548640" y="5285232"/>
            <a:ext cx="11064240" cy="713232"/>
          </a:xfrm>
          <a:prstGeom prst="roundRect">
            <a:avLst>
              <a:gd name="adj" fmla="val 5128"/>
            </a:avLst>
          </a:prstGeom>
          <a:solidFill>
            <a:srgbClr val="FFFFFF"/>
          </a:solidFill>
          <a:ln w="9525">
            <a:solidFill>
              <a:srgbClr val="DDE2E7"/>
            </a:solidFill>
            <a:prstDash val="solid"/>
          </a:ln>
        </p:spPr>
      </p:sp>
      <p:sp>
        <p:nvSpPr>
          <p:cNvPr id="20" name="Text 18"/>
          <p:cNvSpPr txBox="1"/>
          <p:nvPr/>
        </p:nvSpPr>
        <p:spPr>
          <a:xfrm>
            <a:off x="822960" y="5376672"/>
            <a:ext cx="3566160" cy="603504"/>
          </a:xfrm>
          <a:prstGeom prst="rect">
            <a:avLst/>
          </a:prstGeom>
          <a:noFill/>
          <a:ln/>
        </p:spPr>
        <p:txBody>
          <a:bodyPr wrap="square" lIns="0" tIns="0" rIns="0" bIns="0" rtlCol="0" anchor="t"/>
          <a:lstStyle/>
          <a:p>
            <a:pPr algn="l" indent="0" marL="0">
              <a:lnSpc>
                <a:spcPct val="112000"/>
              </a:lnSpc>
              <a:buNone/>
            </a:pPr>
            <a:r>
              <a:rPr lang="en-US" sz="1050" b="1" dirty="0">
                <a:solidFill>
                  <a:srgbClr val="C2703B"/>
                </a:solidFill>
                <a:latin typeface="Calibri" pitchFamily="34" charset="0"/>
                <a:ea typeface="Calibri" pitchFamily="34" charset="-122"/>
                <a:cs typeface="Calibri" pitchFamily="34" charset="-120"/>
              </a:rPr>
              <a:t>A comparison at mismatched depth</a:t>
            </a:r>
            <a:endParaRPr lang="en-US" sz="1050" dirty="0"/>
          </a:p>
        </p:txBody>
      </p:sp>
      <p:sp>
        <p:nvSpPr>
          <p:cNvPr id="21" name="Text 19"/>
          <p:cNvSpPr txBox="1"/>
          <p:nvPr/>
        </p:nvSpPr>
        <p:spPr>
          <a:xfrm>
            <a:off x="4526280" y="5376672"/>
            <a:ext cx="6446520" cy="548640"/>
          </a:xfrm>
          <a:prstGeom prst="rect">
            <a:avLst/>
          </a:prstGeom>
          <a:noFill/>
          <a:ln/>
        </p:spPr>
        <p:txBody>
          <a:bodyPr wrap="square" lIns="0" tIns="0" rIns="0" bIns="0" rtlCol="0" anchor="t"/>
          <a:lstStyle/>
          <a:p>
            <a:pPr algn="l" indent="0" marL="0">
              <a:lnSpc>
                <a:spcPct val="114000"/>
              </a:lnSpc>
              <a:buNone/>
            </a:pPr>
            <a:r>
              <a:rPr lang="en-US" sz="950" dirty="0">
                <a:solidFill>
                  <a:srgbClr val="4A5560"/>
                </a:solidFill>
                <a:latin typeface="Calibri" pitchFamily="34" charset="0"/>
                <a:ea typeface="Calibri" pitchFamily="34" charset="-122"/>
                <a:cs typeface="Calibri" pitchFamily="34" charset="-120"/>
              </a:rPr>
              <a:t>We put the new model at depth 15 against the old one at depth 16. Redone at matched depth the result still holds, but it is smaller, and it loses at depth 11.</a:t>
            </a:r>
            <a:endParaRPr lang="en-US" sz="950" dirty="0"/>
          </a:p>
        </p:txBody>
      </p:sp>
      <p:sp>
        <p:nvSpPr>
          <p:cNvPr id="22" name="Text 20"/>
          <p:cNvSpPr txBox="1"/>
          <p:nvPr/>
        </p:nvSpPr>
        <p:spPr>
          <a:xfrm>
            <a:off x="548640" y="6126480"/>
            <a:ext cx="11064240" cy="256032"/>
          </a:xfrm>
          <a:prstGeom prst="rect">
            <a:avLst/>
          </a:prstGeom>
          <a:noFill/>
          <a:ln/>
        </p:spPr>
        <p:txBody>
          <a:bodyPr wrap="square" lIns="0" tIns="0" rIns="0" bIns="0" rtlCol="0" anchor="ctr"/>
          <a:lstStyle/>
          <a:p>
            <a:pPr indent="0" marL="0">
              <a:buNone/>
            </a:pPr>
            <a:r>
              <a:rPr lang="en-US" sz="950" dirty="0">
                <a:solidFill>
                  <a:srgbClr val="7C8895"/>
                </a:solidFill>
                <a:latin typeface="Calibri" pitchFamily="34" charset="0"/>
                <a:ea typeface="Calibri" pitchFamily="34" charset="-122"/>
                <a:cs typeface="Calibri" pitchFamily="34" charset="-120"/>
              </a:rPr>
              <a:t>docs/DAY_LOG_17SEP.md and docs/SHIP_E1F_GATE.md — every correction with the measurement that overturned it.</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10896"/>
            <a:ext cx="11064240" cy="566928"/>
          </a:xfrm>
          <a:prstGeom prst="rect">
            <a:avLst/>
          </a:prstGeom>
          <a:noFill/>
          <a:ln/>
        </p:spPr>
        <p:txBody>
          <a:bodyPr wrap="square" lIns="0" tIns="0" rIns="0" bIns="0" rtlCol="0" anchor="ctr"/>
          <a:lstStyle/>
          <a:p>
            <a:pPr indent="0" marL="0">
              <a:buNone/>
            </a:pPr>
            <a:r>
              <a:rPr lang="en-US" sz="3000" b="1" dirty="0">
                <a:solidFill>
                  <a:srgbClr val="23282E"/>
                </a:solidFill>
                <a:latin typeface="Cambria" pitchFamily="34" charset="0"/>
                <a:ea typeface="Cambria" pitchFamily="34" charset="-122"/>
                <a:cs typeface="Cambria" pitchFamily="34" charset="-120"/>
              </a:rPr>
              <a:t>What Ships, and How to Check It</a:t>
            </a:r>
            <a:endParaRPr lang="en-US" sz="3000" dirty="0"/>
          </a:p>
        </p:txBody>
      </p:sp>
      <p:sp>
        <p:nvSpPr>
          <p:cNvPr id="3" name="Text 1"/>
          <p:cNvSpPr txBox="1"/>
          <p:nvPr/>
        </p:nvSpPr>
        <p:spPr>
          <a:xfrm>
            <a:off x="548640" y="905256"/>
            <a:ext cx="11064240" cy="365760"/>
          </a:xfrm>
          <a:prstGeom prst="rect">
            <a:avLst/>
          </a:prstGeom>
          <a:noFill/>
          <a:ln/>
        </p:spPr>
        <p:txBody>
          <a:bodyPr wrap="square" lIns="0" tIns="0" rIns="0" bIns="0" rtlCol="0" anchor="t"/>
          <a:lstStyle/>
          <a:p>
            <a:pPr indent="0" marL="0">
              <a:buNone/>
            </a:pPr>
            <a:r>
              <a:rPr lang="en-US" sz="1150" dirty="0">
                <a:solidFill>
                  <a:srgbClr val="4A5560"/>
                </a:solidFill>
                <a:latin typeface="Calibri" pitchFamily="34" charset="0"/>
                <a:ea typeface="Calibri" pitchFamily="34" charset="-122"/>
                <a:cs typeface="Calibri" pitchFamily="34" charset="-120"/>
              </a:rPr>
              <a:t>Four required components, each verified by running it. Every claim on the previous slides is reproducible from the repository with one of the commands below.</a:t>
            </a:r>
            <a:endParaRPr lang="en-US" sz="1150" dirty="0"/>
          </a:p>
        </p:txBody>
      </p:sp>
      <p:sp>
        <p:nvSpPr>
          <p:cNvPr id="4" name="Shape 2"/>
          <p:cNvSpPr/>
          <p:nvPr/>
        </p:nvSpPr>
        <p:spPr>
          <a:xfrm>
            <a:off x="548640" y="1417320"/>
            <a:ext cx="11064240" cy="777240"/>
          </a:xfrm>
          <a:prstGeom prst="roundRect">
            <a:avLst>
              <a:gd name="adj" fmla="val 4706"/>
            </a:avLst>
          </a:prstGeom>
          <a:solidFill>
            <a:srgbClr val="ECEFF2"/>
          </a:solidFill>
          <a:ln w="9525">
            <a:solidFill>
              <a:srgbClr val="DDE2E7"/>
            </a:solidFill>
            <a:prstDash val="solid"/>
          </a:ln>
        </p:spPr>
      </p:sp>
      <p:sp>
        <p:nvSpPr>
          <p:cNvPr id="5" name="Text 3"/>
          <p:cNvSpPr txBox="1"/>
          <p:nvPr/>
        </p:nvSpPr>
        <p:spPr>
          <a:xfrm>
            <a:off x="822960" y="1554480"/>
            <a:ext cx="10515600" cy="274320"/>
          </a:xfrm>
          <a:prstGeom prst="rect">
            <a:avLst/>
          </a:prstGeom>
          <a:noFill/>
          <a:ln/>
        </p:spPr>
        <p:txBody>
          <a:bodyPr wrap="square" lIns="0" tIns="0" rIns="0" bIns="0" rtlCol="0" anchor="t"/>
          <a:lstStyle/>
          <a:p>
            <a:pPr algn="l" indent="0" marL="0">
              <a:lnSpc>
                <a:spcPct val="118000"/>
              </a:lnSpc>
              <a:buNone/>
            </a:pPr>
            <a:r>
              <a:rPr lang="en-US" sz="950" dirty="0">
                <a:solidFill>
                  <a:srgbClr val="23282E"/>
                </a:solidFill>
                <a:latin typeface="Consolas" pitchFamily="34" charset="0"/>
                <a:ea typeface="Consolas" pitchFamily="34" charset="-122"/>
                <a:cs typeface="Consolas" pitchFamily="34" charset="-120"/>
              </a:rPr>
              <a:t>pip install -r requirements.txt        python run.py &lt;input-dir&gt; &lt;output-dir&gt;        python run_fast.py &lt;in&gt; &lt;out&gt;</a:t>
            </a:r>
            <a:endParaRPr lang="en-US" sz="950" dirty="0"/>
          </a:p>
        </p:txBody>
      </p:sp>
      <p:sp>
        <p:nvSpPr>
          <p:cNvPr id="6" name="Text 4"/>
          <p:cNvSpPr txBox="1"/>
          <p:nvPr/>
        </p:nvSpPr>
        <p:spPr>
          <a:xfrm>
            <a:off x="822960" y="1874520"/>
            <a:ext cx="10515600" cy="237744"/>
          </a:xfrm>
          <a:prstGeom prst="rect">
            <a:avLst/>
          </a:prstGeom>
          <a:noFill/>
          <a:ln/>
        </p:spPr>
        <p:txBody>
          <a:bodyPr wrap="square" lIns="0" tIns="0" rIns="0" bIns="0" rtlCol="0" anchor="t"/>
          <a:lstStyle/>
          <a:p>
            <a:pPr algn="l" indent="0" marL="0">
              <a:lnSpc>
                <a:spcPct val="118000"/>
              </a:lnSpc>
              <a:buNone/>
            </a:pPr>
            <a:r>
              <a:rPr lang="en-US" sz="950" dirty="0">
                <a:solidFill>
                  <a:srgbClr val="7C8895"/>
                </a:solidFill>
                <a:latin typeface="Calibri" pitchFamily="34" charset="0"/>
                <a:ea typeface="Calibri" pitchFamily="34" charset="-122"/>
                <a:cs typeface="Calibri" pitchFamily="34" charset="-120"/>
              </a:rPr>
              <a:t>run.py is the submission entry point. run_fast.py is the same contract, served by TensorRT whenever it can be and by run.py whenever it cannot.</a:t>
            </a:r>
            <a:endParaRPr lang="en-US" sz="950" dirty="0"/>
          </a:p>
        </p:txBody>
      </p:sp>
      <p:sp>
        <p:nvSpPr>
          <p:cNvPr id="7" name="Shape 5"/>
          <p:cNvSpPr/>
          <p:nvPr/>
        </p:nvSpPr>
        <p:spPr>
          <a:xfrm>
            <a:off x="548640" y="2240280"/>
            <a:ext cx="3566160" cy="2286000"/>
          </a:xfrm>
          <a:prstGeom prst="roundRect">
            <a:avLst>
              <a:gd name="adj" fmla="val 1600"/>
            </a:avLst>
          </a:prstGeom>
          <a:solidFill>
            <a:srgbClr val="FFFFFF"/>
          </a:solidFill>
          <a:ln w="9525">
            <a:solidFill>
              <a:srgbClr val="DDE2E7"/>
            </a:solidFill>
            <a:prstDash val="solid"/>
          </a:ln>
        </p:spPr>
      </p:sp>
      <p:sp>
        <p:nvSpPr>
          <p:cNvPr id="8" name="Text 6"/>
          <p:cNvSpPr txBox="1"/>
          <p:nvPr/>
        </p:nvSpPr>
        <p:spPr>
          <a:xfrm>
            <a:off x="822960" y="2423160"/>
            <a:ext cx="30175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THE CONTRACT</a:t>
            </a:r>
            <a:endParaRPr lang="en-US" sz="950" dirty="0"/>
          </a:p>
        </p:txBody>
      </p:sp>
      <p:sp>
        <p:nvSpPr>
          <p:cNvPr id="9" name="Text 7"/>
          <p:cNvSpPr txBox="1"/>
          <p:nvPr/>
        </p:nvSpPr>
        <p:spPr>
          <a:xfrm>
            <a:off x="822960" y="2724912"/>
            <a:ext cx="3017520" cy="1691640"/>
          </a:xfrm>
          <a:prstGeom prst="rect">
            <a:avLst/>
          </a:prstGeom>
          <a:noFill/>
          <a:ln/>
        </p:spPr>
        <p:txBody>
          <a:bodyPr wrap="square" lIns="0" tIns="0" rIns="0" bIns="0" rtlCol="0" anchor="t"/>
          <a:lstStyle/>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In:  .npy (H,W) float32, any range.</a:t>
            </a:r>
            <a:endParaRPr lang="en-US" sz="950" dirty="0"/>
          </a:p>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Out: .npy float32 (2H,2W), same filename, finite, clamped to [0,1], trailing axis preserved.</a:t>
            </a:r>
            <a:endParaRPr lang="en-US" sz="950" dirty="0"/>
          </a:p>
          <a:p>
            <a:pPr algn="l" indent="0" marL="0">
              <a:lnSpc>
                <a:spcPct val="120000"/>
              </a:lnSpc>
              <a:buNone/>
            </a:pPr>
            <a:endParaRPr lang="en-US" sz="950" dirty="0"/>
          </a:p>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Weights resolve to models/model.pt, SHA-1 f95377a21e86…</a:t>
            </a:r>
            <a:endParaRPr lang="en-US" sz="950" dirty="0"/>
          </a:p>
        </p:txBody>
      </p:sp>
      <p:sp>
        <p:nvSpPr>
          <p:cNvPr id="10" name="Shape 8"/>
          <p:cNvSpPr/>
          <p:nvPr/>
        </p:nvSpPr>
        <p:spPr>
          <a:xfrm>
            <a:off x="4297680" y="2240280"/>
            <a:ext cx="3566160" cy="2286000"/>
          </a:xfrm>
          <a:prstGeom prst="roundRect">
            <a:avLst>
              <a:gd name="adj" fmla="val 1600"/>
            </a:avLst>
          </a:prstGeom>
          <a:solidFill>
            <a:srgbClr val="FFFFFF"/>
          </a:solidFill>
          <a:ln w="9525">
            <a:solidFill>
              <a:srgbClr val="DDE2E7"/>
            </a:solidFill>
            <a:prstDash val="solid"/>
          </a:ln>
        </p:spPr>
      </p:sp>
      <p:sp>
        <p:nvSpPr>
          <p:cNvPr id="11" name="Text 9"/>
          <p:cNvSpPr txBox="1"/>
          <p:nvPr/>
        </p:nvSpPr>
        <p:spPr>
          <a:xfrm>
            <a:off x="4572000" y="2423160"/>
            <a:ext cx="30175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THE VERIFICATION CHAIN</a:t>
            </a:r>
            <a:endParaRPr lang="en-US" sz="950" dirty="0"/>
          </a:p>
        </p:txBody>
      </p:sp>
      <p:sp>
        <p:nvSpPr>
          <p:cNvPr id="12" name="Text 10"/>
          <p:cNvSpPr txBox="1"/>
          <p:nvPr/>
        </p:nvSpPr>
        <p:spPr>
          <a:xfrm>
            <a:off x="4572000" y="2724912"/>
            <a:ext cx="3017520" cy="1691640"/>
          </a:xfrm>
          <a:prstGeom prst="rect">
            <a:avLst/>
          </a:prstGeom>
          <a:noFill/>
          <a:ln/>
        </p:spPr>
        <p:txBody>
          <a:bodyPr wrap="square" lIns="0" tIns="0" rIns="0" bIns="0" rtlCol="0" anchor="t"/>
          <a:lstStyle/>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verify_shipped.py   hash + rerun + compare to committed outputs</a:t>
            </a:r>
            <a:endParaRPr lang="en-US" sz="950" dirty="0"/>
          </a:p>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package_check.py    restores from a directory holding only the four required files</a:t>
            </a:r>
            <a:endParaRPr lang="en-US" sz="950" dirty="0"/>
          </a:p>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bless_engines.py    proves engine ↔ checkpoint identity</a:t>
            </a:r>
            <a:endParaRPr lang="en-US" sz="950" dirty="0"/>
          </a:p>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stress_run.py       12/12</a:t>
            </a:r>
            <a:endParaRPr lang="en-US" sz="950" dirty="0"/>
          </a:p>
        </p:txBody>
      </p:sp>
      <p:sp>
        <p:nvSpPr>
          <p:cNvPr id="13" name="Shape 11"/>
          <p:cNvSpPr/>
          <p:nvPr/>
        </p:nvSpPr>
        <p:spPr>
          <a:xfrm>
            <a:off x="8046720" y="2240280"/>
            <a:ext cx="3566160" cy="2286000"/>
          </a:xfrm>
          <a:prstGeom prst="roundRect">
            <a:avLst>
              <a:gd name="adj" fmla="val 1600"/>
            </a:avLst>
          </a:prstGeom>
          <a:solidFill>
            <a:srgbClr val="FFFFFF"/>
          </a:solidFill>
          <a:ln w="9525">
            <a:solidFill>
              <a:srgbClr val="DDE2E7"/>
            </a:solidFill>
            <a:prstDash val="solid"/>
          </a:ln>
        </p:spPr>
      </p:sp>
      <p:sp>
        <p:nvSpPr>
          <p:cNvPr id="14" name="Text 12"/>
          <p:cNvSpPr txBox="1"/>
          <p:nvPr/>
        </p:nvSpPr>
        <p:spPr>
          <a:xfrm>
            <a:off x="8321040" y="2423160"/>
            <a:ext cx="301752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REBUILD EVERYTHING</a:t>
            </a:r>
            <a:endParaRPr lang="en-US" sz="950" dirty="0"/>
          </a:p>
        </p:txBody>
      </p:sp>
      <p:sp>
        <p:nvSpPr>
          <p:cNvPr id="15" name="Text 13"/>
          <p:cNvSpPr txBox="1"/>
          <p:nvPr/>
        </p:nvSpPr>
        <p:spPr>
          <a:xfrm>
            <a:off x="8321040" y="2724912"/>
            <a:ext cx="3017520" cy="1691640"/>
          </a:xfrm>
          <a:prstGeom prst="rect">
            <a:avLst/>
          </a:prstGeom>
          <a:noFill/>
          <a:ln/>
        </p:spPr>
        <p:txBody>
          <a:bodyPr wrap="square" lIns="0" tIns="0" rIns="0" bIns="0" rtlCol="0" anchor="t"/>
          <a:lstStyle/>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trt_native.py all      five engines, 145 s</a:t>
            </a:r>
            <a:endParaRPr lang="en-US" sz="950" dirty="0"/>
          </a:p>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calibrate_knob.py      the datasheet, on your GPU</a:t>
            </a:r>
            <a:endParaRPr lang="en-US" sz="950" dirty="0"/>
          </a:p>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engine_report.py       the speed tables</a:t>
            </a:r>
            <a:endParaRPr lang="en-US" sz="950" dirty="0"/>
          </a:p>
          <a:p>
            <a:pPr algn="l" indent="0" marL="0">
              <a:lnSpc>
                <a:spcPct val="120000"/>
              </a:lnSpc>
              <a:buNone/>
            </a:pPr>
            <a:r>
              <a:rPr lang="en-US" sz="950" dirty="0">
                <a:solidFill>
                  <a:srgbClr val="23282E"/>
                </a:solidFill>
                <a:latin typeface="Calibri" pitchFamily="34" charset="0"/>
                <a:ea typeface="Calibri" pitchFamily="34" charset="-122"/>
                <a:cs typeface="Calibri" pitchFamily="34" charset="-120"/>
              </a:rPr>
              <a:t>  --from-json          re-derive every verdict with no GPU at all</a:t>
            </a:r>
            <a:endParaRPr lang="en-US" sz="950" dirty="0"/>
          </a:p>
        </p:txBody>
      </p:sp>
      <p:sp>
        <p:nvSpPr>
          <p:cNvPr id="16" name="Shape 14"/>
          <p:cNvSpPr/>
          <p:nvPr/>
        </p:nvSpPr>
        <p:spPr>
          <a:xfrm>
            <a:off x="548640" y="4663440"/>
            <a:ext cx="11064240" cy="1371600"/>
          </a:xfrm>
          <a:prstGeom prst="roundRect">
            <a:avLst>
              <a:gd name="adj" fmla="val 2667"/>
            </a:avLst>
          </a:prstGeom>
          <a:solidFill>
            <a:srgbClr val="FBF2EC"/>
          </a:solidFill>
          <a:ln w="9525">
            <a:solidFill>
              <a:srgbClr val="E3A574"/>
            </a:solidFill>
            <a:prstDash val="solid"/>
          </a:ln>
        </p:spPr>
      </p:sp>
      <p:sp>
        <p:nvSpPr>
          <p:cNvPr id="17" name="Text 15"/>
          <p:cNvSpPr txBox="1"/>
          <p:nvPr/>
        </p:nvSpPr>
        <p:spPr>
          <a:xfrm>
            <a:off x="868680" y="4846320"/>
            <a:ext cx="1042416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WHAT THE REPOSITORY CARRIES BEYOND THE FOUR REQUIRED FILES</a:t>
            </a:r>
            <a:endParaRPr lang="en-US" sz="950" dirty="0"/>
          </a:p>
        </p:txBody>
      </p:sp>
      <p:sp>
        <p:nvSpPr>
          <p:cNvPr id="18" name="Text 16"/>
          <p:cNvSpPr txBox="1"/>
          <p:nvPr/>
        </p:nvSpPr>
        <p:spPr>
          <a:xfrm>
            <a:off x="868680" y="5138928"/>
            <a:ext cx="10424160" cy="841248"/>
          </a:xfrm>
          <a:prstGeom prst="rect">
            <a:avLst/>
          </a:prstGeom>
          <a:noFill/>
          <a:ln/>
        </p:spPr>
        <p:txBody>
          <a:bodyPr wrap="square" lIns="0" tIns="0" rIns="0" bIns="0" rtlCol="0" anchor="t"/>
          <a:lstStyle/>
          <a:p>
            <a:pPr algn="l" indent="0" marL="0">
              <a:lnSpc>
                <a:spcPct val="118000"/>
              </a:lnSpc>
              <a:buNone/>
            </a:pPr>
            <a:r>
              <a:rPr lang="en-US" sz="1000" dirty="0">
                <a:solidFill>
                  <a:srgbClr val="23282E"/>
                </a:solidFill>
                <a:latin typeface="Calibri" pitchFamily="34" charset="0"/>
                <a:ea typeface="Calibri" pitchFamily="34" charset="-122"/>
                <a:cs typeface="Calibri" pitchFamily="34" charset="-120"/>
              </a:rPr>
              <a:t>docs/SHIP_E1F_GATE.md — the model, the 297 scores, the robustness sweep against the superseded model, all five engines, the dispatcher, and a closing section recording every correction that changed a conclusion.   docs/ENGINEERING_LOG.md — every experiment including the failures.   kla2/results/ — per-image CSVs for all 297 images, so any number here can be recomputed rather than believed.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731520"/>
            <a:ext cx="10972800" cy="1097280"/>
          </a:xfrm>
          <a:prstGeom prst="rect">
            <a:avLst/>
          </a:prstGeom>
          <a:noFill/>
          <a:ln/>
        </p:spPr>
        <p:txBody>
          <a:bodyPr wrap="square" lIns="0" tIns="0" rIns="0" bIns="0" rtlCol="0" anchor="ctr"/>
          <a:lstStyle/>
          <a:p>
            <a:pPr indent="0" marL="0">
              <a:lnSpc>
                <a:spcPct val="115000"/>
              </a:lnSpc>
              <a:buNone/>
            </a:pPr>
            <a:r>
              <a:rPr lang="en-US" sz="2100" b="1" dirty="0">
                <a:solidFill>
                  <a:srgbClr val="23282E"/>
                </a:solidFill>
                <a:latin typeface="Cambria" pitchFamily="34" charset="0"/>
                <a:ea typeface="Cambria" pitchFamily="34" charset="-122"/>
                <a:cs typeface="Cambria" pitchFamily="34" charset="-120"/>
              </a:rPr>
              <a:t>We measured why our outputs were smooth, changed the block that caused it,</a:t>
            </a:r>
            <a:endParaRPr lang="en-US" sz="2100" dirty="0"/>
          </a:p>
          <a:p>
            <a:pPr indent="0" marL="0">
              <a:lnSpc>
                <a:spcPct val="115000"/>
              </a:lnSpc>
              <a:buNone/>
            </a:pPr>
            <a:r>
              <a:rPr lang="en-US" sz="2100" b="1" dirty="0">
                <a:solidFill>
                  <a:srgbClr val="23282E"/>
                </a:solidFill>
                <a:latin typeface="Cambria" pitchFamily="34" charset="0"/>
                <a:ea typeface="Cambria" pitchFamily="34" charset="-122"/>
                <a:cs typeface="Cambria" pitchFamily="34" charset="-120"/>
              </a:rPr>
              <a:t>and removed the startup cost that was hiding the control we had built.</a:t>
            </a:r>
            <a:endParaRPr lang="en-US" sz="2100" dirty="0"/>
          </a:p>
        </p:txBody>
      </p:sp>
      <p:sp>
        <p:nvSpPr>
          <p:cNvPr id="3" name="Text 1"/>
          <p:cNvSpPr txBox="1"/>
          <p:nvPr/>
        </p:nvSpPr>
        <p:spPr>
          <a:xfrm>
            <a:off x="640080" y="2103120"/>
            <a:ext cx="3566160" cy="502920"/>
          </a:xfrm>
          <a:prstGeom prst="rect">
            <a:avLst/>
          </a:prstGeom>
          <a:noFill/>
          <a:ln/>
        </p:spPr>
        <p:txBody>
          <a:bodyPr wrap="square" lIns="0" tIns="0" rIns="0" bIns="0" rtlCol="0" anchor="ctr"/>
          <a:lstStyle/>
          <a:p>
            <a:pPr indent="0" marL="0">
              <a:buNone/>
            </a:pPr>
            <a:r>
              <a:rPr lang="en-US" sz="2600" b="1" dirty="0">
                <a:solidFill>
                  <a:srgbClr val="C2703B"/>
                </a:solidFill>
                <a:latin typeface="Cambria" pitchFamily="34" charset="0"/>
                <a:ea typeface="Cambria" pitchFamily="34" charset="-122"/>
                <a:cs typeface="Cambria" pitchFamily="34" charset="-120"/>
              </a:rPr>
              <a:t>23.8297</a:t>
            </a:r>
            <a:endParaRPr lang="en-US" sz="2600" dirty="0"/>
          </a:p>
        </p:txBody>
      </p:sp>
      <p:sp>
        <p:nvSpPr>
          <p:cNvPr id="4" name="Text 2"/>
          <p:cNvSpPr txBox="1"/>
          <p:nvPr/>
        </p:nvSpPr>
        <p:spPr>
          <a:xfrm>
            <a:off x="640080" y="2606040"/>
            <a:ext cx="356616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PSNR  ·  organisers' 297-image test set</a:t>
            </a:r>
            <a:endParaRPr lang="en-US" sz="950" dirty="0"/>
          </a:p>
        </p:txBody>
      </p:sp>
      <p:sp>
        <p:nvSpPr>
          <p:cNvPr id="5" name="Text 3"/>
          <p:cNvSpPr txBox="1"/>
          <p:nvPr/>
        </p:nvSpPr>
        <p:spPr>
          <a:xfrm>
            <a:off x="4343400" y="2103120"/>
            <a:ext cx="3566160" cy="502920"/>
          </a:xfrm>
          <a:prstGeom prst="rect">
            <a:avLst/>
          </a:prstGeom>
          <a:noFill/>
          <a:ln/>
        </p:spPr>
        <p:txBody>
          <a:bodyPr wrap="square" lIns="0" tIns="0" rIns="0" bIns="0" rtlCol="0" anchor="ctr"/>
          <a:lstStyle/>
          <a:p>
            <a:pPr indent="0" marL="0">
              <a:buNone/>
            </a:pPr>
            <a:r>
              <a:rPr lang="en-US" sz="2600" b="1" dirty="0">
                <a:solidFill>
                  <a:srgbClr val="C2703B"/>
                </a:solidFill>
                <a:latin typeface="Cambria" pitchFamily="34" charset="0"/>
                <a:ea typeface="Cambria" pitchFamily="34" charset="-122"/>
                <a:cs typeface="Cambria" pitchFamily="34" charset="-120"/>
              </a:rPr>
              <a:t>+3.374 dB</a:t>
            </a:r>
            <a:endParaRPr lang="en-US" sz="2600" dirty="0"/>
          </a:p>
        </p:txBody>
      </p:sp>
      <p:sp>
        <p:nvSpPr>
          <p:cNvPr id="6" name="Text 4"/>
          <p:cNvSpPr txBox="1"/>
          <p:nvPr/>
        </p:nvSpPr>
        <p:spPr>
          <a:xfrm>
            <a:off x="4343400" y="2606040"/>
            <a:ext cx="356616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over bicubic ×2</a:t>
            </a:r>
            <a:endParaRPr lang="en-US" sz="950" dirty="0"/>
          </a:p>
        </p:txBody>
      </p:sp>
      <p:sp>
        <p:nvSpPr>
          <p:cNvPr id="7" name="Text 5"/>
          <p:cNvSpPr txBox="1"/>
          <p:nvPr/>
        </p:nvSpPr>
        <p:spPr>
          <a:xfrm>
            <a:off x="8046720" y="2103120"/>
            <a:ext cx="3566160" cy="502920"/>
          </a:xfrm>
          <a:prstGeom prst="rect">
            <a:avLst/>
          </a:prstGeom>
          <a:noFill/>
          <a:ln/>
        </p:spPr>
        <p:txBody>
          <a:bodyPr wrap="square" lIns="0" tIns="0" rIns="0" bIns="0" rtlCol="0" anchor="ctr"/>
          <a:lstStyle/>
          <a:p>
            <a:pPr indent="0" marL="0">
              <a:buNone/>
            </a:pPr>
            <a:r>
              <a:rPr lang="en-US" sz="2600" b="1" dirty="0">
                <a:solidFill>
                  <a:srgbClr val="C2703B"/>
                </a:solidFill>
                <a:latin typeface="Cambria" pitchFamily="34" charset="0"/>
                <a:ea typeface="Cambria" pitchFamily="34" charset="-122"/>
                <a:cs typeface="Cambria" pitchFamily="34" charset="-120"/>
              </a:rPr>
              <a:t>1.26–1.56×</a:t>
            </a:r>
            <a:endParaRPr lang="en-US" sz="2600" dirty="0"/>
          </a:p>
        </p:txBody>
      </p:sp>
      <p:sp>
        <p:nvSpPr>
          <p:cNvPr id="8" name="Text 6"/>
          <p:cNvSpPr txBox="1"/>
          <p:nvPr/>
        </p:nvSpPr>
        <p:spPr>
          <a:xfrm>
            <a:off x="8046720" y="2606040"/>
            <a:ext cx="3566160" cy="274320"/>
          </a:xfrm>
          <a:prstGeom prst="rect">
            <a:avLst/>
          </a:prstGeom>
          <a:noFill/>
          <a:ln/>
        </p:spPr>
        <p:txBody>
          <a:bodyPr wrap="square" lIns="0" tIns="0" rIns="0" bIns="0" rtlCol="0" anchor="t"/>
          <a:lstStyle/>
          <a:p>
            <a:pPr indent="0" marL="0">
              <a:buNone/>
            </a:pPr>
            <a:r>
              <a:rPr lang="en-US" sz="950" dirty="0">
                <a:solidFill>
                  <a:srgbClr val="7C8895"/>
                </a:solidFill>
                <a:latin typeface="Calibri" pitchFamily="34" charset="0"/>
                <a:ea typeface="Calibri" pitchFamily="34" charset="-122"/>
                <a:cs typeface="Calibri" pitchFamily="34" charset="-120"/>
              </a:rPr>
              <a:t>faster end to end, for 0.0001 dB</a:t>
            </a:r>
            <a:endParaRPr lang="en-US" sz="950" dirty="0"/>
          </a:p>
        </p:txBody>
      </p:sp>
      <p:sp>
        <p:nvSpPr>
          <p:cNvPr id="9" name="Shape 7"/>
          <p:cNvSpPr/>
          <p:nvPr/>
        </p:nvSpPr>
        <p:spPr>
          <a:xfrm>
            <a:off x="640080" y="3200400"/>
            <a:ext cx="5349240" cy="2286000"/>
          </a:xfrm>
          <a:prstGeom prst="roundRect">
            <a:avLst>
              <a:gd name="adj" fmla="val 1600"/>
            </a:avLst>
          </a:prstGeom>
          <a:solidFill>
            <a:srgbClr val="ECEFF2"/>
          </a:solidFill>
          <a:ln w="9525">
            <a:solidFill>
              <a:srgbClr val="DDE2E7"/>
            </a:solidFill>
            <a:prstDash val="solid"/>
          </a:ln>
        </p:spPr>
      </p:sp>
      <p:sp>
        <p:nvSpPr>
          <p:cNvPr id="10" name="Text 8"/>
          <p:cNvSpPr txBox="1"/>
          <p:nvPr/>
        </p:nvSpPr>
        <p:spPr>
          <a:xfrm>
            <a:off x="914400" y="3383280"/>
            <a:ext cx="4800600" cy="219456"/>
          </a:xfrm>
          <a:prstGeom prst="rect">
            <a:avLst/>
          </a:prstGeom>
          <a:noFill/>
          <a:ln/>
        </p:spPr>
        <p:txBody>
          <a:bodyPr wrap="square" lIns="0" tIns="0" rIns="0" bIns="0" rtlCol="0" anchor="ctr"/>
          <a:lstStyle/>
          <a:p>
            <a:pPr indent="0" marL="0">
              <a:buNone/>
            </a:pPr>
            <a:r>
              <a:rPr lang="en-US" sz="950" b="1" spc="60" kern="0" dirty="0">
                <a:solidFill>
                  <a:srgbClr val="7C8895"/>
                </a:solidFill>
                <a:latin typeface="Calibri" pitchFamily="34" charset="0"/>
                <a:ea typeface="Calibri" pitchFamily="34" charset="-122"/>
                <a:cs typeface="Calibri" pitchFamily="34" charset="-120"/>
              </a:rPr>
              <a:t>WHAT WE CAN DEFEND</a:t>
            </a:r>
            <a:endParaRPr lang="en-US" sz="950" dirty="0"/>
          </a:p>
        </p:txBody>
      </p:sp>
      <p:sp>
        <p:nvSpPr>
          <p:cNvPr id="11" name="Text 9"/>
          <p:cNvSpPr txBox="1"/>
          <p:nvPr/>
        </p:nvSpPr>
        <p:spPr>
          <a:xfrm>
            <a:off x="914400" y="3675888"/>
            <a:ext cx="4800600" cy="1691640"/>
          </a:xfrm>
          <a:prstGeom prst="rect">
            <a:avLst/>
          </a:prstGeom>
          <a:noFill/>
          <a:ln/>
        </p:spPr>
        <p:txBody>
          <a:bodyPr wrap="square" lIns="0" tIns="0" rIns="0" bIns="0" rtlCol="0" anchor="t"/>
          <a:lstStyle/>
          <a:p>
            <a:pPr marL="152400" indent="-152400">
              <a:lnSpc>
                <a:spcPct val="115000"/>
              </a:lnSpc>
              <a:spcAft>
                <a:spcPts val="400"/>
              </a:spcAft>
              <a:buSzPct val="100000"/>
              <a:buChar char="•"/>
            </a:pPr>
            <a:r>
              <a:rPr lang="en-US" sz="1000" dirty="0">
                <a:solidFill>
                  <a:srgbClr val="23282E"/>
                </a:solidFill>
                <a:latin typeface="Calibri" pitchFamily="34" charset="0"/>
                <a:ea typeface="Calibri" pitchFamily="34" charset="-122"/>
                <a:cs typeface="Calibri" pitchFamily="34" charset="-120"/>
              </a:rPr>
              <a:t>Ahead of the superseded model at every noise level tested, on the same GPU</a:t>
            </a:r>
            <a:endParaRPr lang="en-US" sz="1000" dirty="0"/>
          </a:p>
          <a:p>
            <a:pPr marL="152400" indent="-152400">
              <a:lnSpc>
                <a:spcPct val="115000"/>
              </a:lnSpc>
              <a:spcAft>
                <a:spcPts val="400"/>
              </a:spcAft>
              <a:buSzPct val="100000"/>
              <a:buChar char="•"/>
            </a:pPr>
            <a:r>
              <a:rPr lang="en-US" sz="1000" dirty="0">
                <a:solidFill>
                  <a:srgbClr val="23282E"/>
                </a:solidFill>
                <a:latin typeface="Calibri" pitchFamily="34" charset="0"/>
                <a:ea typeface="Calibri" pitchFamily="34" charset="-122"/>
                <a:cs typeface="Calibri" pitchFamily="34" charset="-120"/>
              </a:rPr>
              <a:t>0 of 297 images worse than bicubic; 297 of 297 improved on SSIM</a:t>
            </a:r>
            <a:endParaRPr lang="en-US" sz="1000" dirty="0"/>
          </a:p>
          <a:p>
            <a:pPr marL="152400" indent="-152400">
              <a:lnSpc>
                <a:spcPct val="115000"/>
              </a:lnSpc>
              <a:spcAft>
                <a:spcPts val="400"/>
              </a:spcAft>
              <a:buSzPct val="100000"/>
              <a:buChar char="•"/>
            </a:pPr>
            <a:r>
              <a:rPr lang="en-US" sz="1000" dirty="0">
                <a:solidFill>
                  <a:srgbClr val="23282E"/>
                </a:solidFill>
                <a:latin typeface="Calibri" pitchFamily="34" charset="0"/>
                <a:ea typeface="Calibri" pitchFamily="34" charset="-122"/>
                <a:cs typeface="Calibri" pitchFamily="34" charset="-120"/>
              </a:rPr>
              <a:t>Five knob stops, each separated by at least 4.6 σ</a:t>
            </a:r>
            <a:endParaRPr lang="en-US" sz="1000" dirty="0"/>
          </a:p>
          <a:p>
            <a:pPr marL="152400" indent="-152400">
              <a:lnSpc>
                <a:spcPct val="115000"/>
              </a:lnSpc>
              <a:spcAft>
                <a:spcPts val="400"/>
              </a:spcAft>
              <a:buSzPct val="100000"/>
              <a:buChar char="•"/>
            </a:pPr>
            <a:r>
              <a:rPr lang="en-US" sz="1000" dirty="0">
                <a:solidFill>
                  <a:srgbClr val="23282E"/>
                </a:solidFill>
                <a:latin typeface="Calibri" pitchFamily="34" charset="0"/>
                <a:ea typeface="Calibri" pitchFamily="34" charset="-122"/>
                <a:cs typeface="Calibri" pitchFamily="34" charset="-120"/>
              </a:rPr>
              <a:t>PyTorch fallback on 15 conditions, output bit-identical</a:t>
            </a:r>
            <a:endParaRPr lang="en-US" sz="1000" dirty="0"/>
          </a:p>
        </p:txBody>
      </p:sp>
      <p:sp>
        <p:nvSpPr>
          <p:cNvPr id="12" name="Shape 10"/>
          <p:cNvSpPr/>
          <p:nvPr/>
        </p:nvSpPr>
        <p:spPr>
          <a:xfrm>
            <a:off x="6172200" y="3200400"/>
            <a:ext cx="5440680" cy="2286000"/>
          </a:xfrm>
          <a:prstGeom prst="roundRect">
            <a:avLst>
              <a:gd name="adj" fmla="val 1600"/>
            </a:avLst>
          </a:prstGeom>
          <a:solidFill>
            <a:srgbClr val="FBF2EC"/>
          </a:solidFill>
          <a:ln w="9525">
            <a:solidFill>
              <a:srgbClr val="E3A574"/>
            </a:solidFill>
            <a:prstDash val="solid"/>
          </a:ln>
        </p:spPr>
      </p:sp>
      <p:sp>
        <p:nvSpPr>
          <p:cNvPr id="13" name="Text 11"/>
          <p:cNvSpPr txBox="1"/>
          <p:nvPr/>
        </p:nvSpPr>
        <p:spPr>
          <a:xfrm>
            <a:off x="6446520" y="3383280"/>
            <a:ext cx="4892040" cy="219456"/>
          </a:xfrm>
          <a:prstGeom prst="rect">
            <a:avLst/>
          </a:prstGeom>
          <a:noFill/>
          <a:ln/>
        </p:spPr>
        <p:txBody>
          <a:bodyPr wrap="square" lIns="0" tIns="0" rIns="0" bIns="0" rtlCol="0" anchor="ctr"/>
          <a:lstStyle/>
          <a:p>
            <a:pPr indent="0" marL="0">
              <a:buNone/>
            </a:pPr>
            <a:r>
              <a:rPr lang="en-US" sz="950" b="1" spc="60" kern="0" dirty="0">
                <a:solidFill>
                  <a:srgbClr val="C2703B"/>
                </a:solidFill>
                <a:latin typeface="Calibri" pitchFamily="34" charset="0"/>
                <a:ea typeface="Calibri" pitchFamily="34" charset="-122"/>
                <a:cs typeface="Calibri" pitchFamily="34" charset="-120"/>
              </a:rPr>
              <a:t>STATED BEFORE ANYONE HAS TO ASK</a:t>
            </a:r>
            <a:endParaRPr lang="en-US" sz="950" dirty="0"/>
          </a:p>
        </p:txBody>
      </p:sp>
      <p:sp>
        <p:nvSpPr>
          <p:cNvPr id="14" name="Text 12"/>
          <p:cNvSpPr txBox="1"/>
          <p:nvPr/>
        </p:nvSpPr>
        <p:spPr>
          <a:xfrm>
            <a:off x="6446520" y="3675888"/>
            <a:ext cx="4892040" cy="1691640"/>
          </a:xfrm>
          <a:prstGeom prst="rect">
            <a:avLst/>
          </a:prstGeom>
          <a:noFill/>
          <a:ln/>
        </p:spPr>
        <p:txBody>
          <a:bodyPr wrap="square" lIns="0" tIns="0" rIns="0" bIns="0" rtlCol="0" anchor="t"/>
          <a:lstStyle/>
          <a:p>
            <a:pPr marL="152400" indent="-152400">
              <a:lnSpc>
                <a:spcPct val="115000"/>
              </a:lnSpc>
              <a:spcAft>
                <a:spcPts val="400"/>
              </a:spcAft>
              <a:buSzPct val="100000"/>
              <a:buChar char="•"/>
            </a:pPr>
            <a:r>
              <a:rPr lang="en-US" sz="1000" dirty="0">
                <a:solidFill>
                  <a:srgbClr val="23282E"/>
                </a:solidFill>
                <a:latin typeface="Calibri" pitchFamily="34" charset="0"/>
                <a:ea typeface="Calibri" pitchFamily="34" charset="-122"/>
                <a:cs typeface="Calibri" pitchFamily="34" charset="-120"/>
              </a:rPr>
              <a:t>Noise levels above σ 0.25 are synthesised by our own generator</a:t>
            </a:r>
            <a:endParaRPr lang="en-US" sz="1000" dirty="0"/>
          </a:p>
          <a:p>
            <a:pPr marL="152400" indent="-152400">
              <a:lnSpc>
                <a:spcPct val="115000"/>
              </a:lnSpc>
              <a:spcAft>
                <a:spcPts val="400"/>
              </a:spcAft>
              <a:buSzPct val="100000"/>
              <a:buChar char="•"/>
            </a:pPr>
            <a:r>
              <a:rPr lang="en-US" sz="1000" dirty="0">
                <a:solidFill>
                  <a:srgbClr val="23282E"/>
                </a:solidFill>
                <a:latin typeface="Calibri" pitchFamily="34" charset="0"/>
                <a:ea typeface="Calibri" pitchFamily="34" charset="-122"/>
                <a:cs typeface="Calibri" pitchFamily="34" charset="-120"/>
              </a:rPr>
              <a:t>The 1,197 finale images come from the same campaign — not a different instrument</a:t>
            </a:r>
            <a:endParaRPr lang="en-US" sz="1000" dirty="0"/>
          </a:p>
          <a:p>
            <a:pPr marL="152400" indent="-152400">
              <a:lnSpc>
                <a:spcPct val="115000"/>
              </a:lnSpc>
              <a:spcAft>
                <a:spcPts val="400"/>
              </a:spcAft>
              <a:buSzPct val="100000"/>
              <a:buChar char="•"/>
            </a:pPr>
            <a:r>
              <a:rPr lang="en-US" sz="1000" dirty="0">
                <a:solidFill>
                  <a:srgbClr val="23282E"/>
                </a:solidFill>
                <a:latin typeface="Calibri" pitchFamily="34" charset="0"/>
                <a:ea typeface="Calibri" pitchFamily="34" charset="-122"/>
                <a:cs typeface="Calibri" pitchFamily="34" charset="-120"/>
              </a:rPr>
              <a:t>e1h_nafdeep has better LPIPS; we chose PSNR and SSIM and say so</a:t>
            </a:r>
            <a:endParaRPr lang="en-US" sz="1000" dirty="0"/>
          </a:p>
          <a:p>
            <a:pPr marL="152400" indent="-152400">
              <a:lnSpc>
                <a:spcPct val="115000"/>
              </a:lnSpc>
              <a:spcAft>
                <a:spcPts val="400"/>
              </a:spcAft>
              <a:buSzPct val="100000"/>
              <a:buChar char="•"/>
            </a:pPr>
            <a:r>
              <a:rPr lang="en-US" sz="1000" dirty="0">
                <a:solidFill>
                  <a:srgbClr val="23282E"/>
                </a:solidFill>
                <a:latin typeface="Calibri" pitchFamily="34" charset="0"/>
                <a:ea typeface="Calibri" pitchFamily="34" charset="-122"/>
                <a:cs typeface="Calibri" pitchFamily="34" charset="-120"/>
              </a:rPr>
              <a:t>We did not retrain on all 5,982 images; measured value +0.066 dB</a:t>
            </a:r>
            <a:endParaRPr lang="en-US" sz="1000" dirty="0"/>
          </a:p>
        </p:txBody>
      </p:sp>
      <p:sp>
        <p:nvSpPr>
          <p:cNvPr id="15" name="Shape 13"/>
          <p:cNvSpPr/>
          <p:nvPr/>
        </p:nvSpPr>
        <p:spPr>
          <a:xfrm>
            <a:off x="640080" y="5715000"/>
            <a:ext cx="10972800" cy="685800"/>
          </a:xfrm>
          <a:prstGeom prst="roundRect">
            <a:avLst>
              <a:gd name="adj" fmla="val 5333"/>
            </a:avLst>
          </a:prstGeom>
          <a:solidFill>
            <a:srgbClr val="ECEFF2"/>
          </a:solidFill>
          <a:ln w="9525">
            <a:solidFill>
              <a:srgbClr val="DDE2E7"/>
            </a:solidFill>
            <a:prstDash val="solid"/>
          </a:ln>
        </p:spPr>
      </p:sp>
      <p:sp>
        <p:nvSpPr>
          <p:cNvPr id="16" name="Text 14"/>
          <p:cNvSpPr txBox="1"/>
          <p:nvPr/>
        </p:nvSpPr>
        <p:spPr>
          <a:xfrm>
            <a:off x="914400" y="5897880"/>
            <a:ext cx="10515600" cy="365760"/>
          </a:xfrm>
          <a:prstGeom prst="rect">
            <a:avLst/>
          </a:prstGeom>
          <a:noFill/>
          <a:ln/>
        </p:spPr>
        <p:txBody>
          <a:bodyPr wrap="square" lIns="0" tIns="0" rIns="0" bIns="0" rtlCol="0" anchor="t"/>
          <a:lstStyle/>
          <a:p>
            <a:pPr algn="l" indent="0" marL="0">
              <a:lnSpc>
                <a:spcPct val="118000"/>
              </a:lnSpc>
              <a:buNone/>
            </a:pPr>
            <a:r>
              <a:rPr lang="en-US" sz="1050" dirty="0">
                <a:solidFill>
                  <a:srgbClr val="4A5560"/>
                </a:solidFill>
                <a:latin typeface="Calibri" pitchFamily="34" charset="0"/>
                <a:ea typeface="Calibri" pitchFamily="34" charset="-122"/>
                <a:cs typeface="Calibri" pitchFamily="34" charset="-120"/>
              </a:rPr>
              <a:t>Team ForgeX   ·   Abishek SR  ·  Anmol BA  ·  Hardik   ·   VIT Vellore            github.com/abishek1123/forgex-finale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Team ForgeX - VIT Vellore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ForgeX - KLA PS01 - SEMICON India 2026 Grand Finale</dc:title>
  <dc:subject>PptxGenJS Presentation</dc:subject>
  <dc:creator>Abishek SR</dc:creator>
  <cp:lastModifiedBy>Abishek SR</cp:lastModifiedBy>
  <cp:revision>1</cp:revision>
  <dcterms:created xsi:type="dcterms:W3CDTF">2026-09-18T11:29:45Z</dcterms:created>
  <dcterms:modified xsi:type="dcterms:W3CDTF">2026-09-18T11:29:45Z</dcterms:modified>
</cp:coreProperties>
</file>